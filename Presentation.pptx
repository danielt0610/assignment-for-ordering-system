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1"/>
  </p:sldMasterIdLst>
  <p:notesMasterIdLst>
    <p:notesMasterId r:id="rId36"/>
  </p:notesMasterIdLst>
  <p:sldIdLst>
    <p:sldId id="256" r:id="rId2"/>
    <p:sldId id="259" r:id="rId3"/>
    <p:sldId id="260" r:id="rId4"/>
    <p:sldId id="269" r:id="rId5"/>
    <p:sldId id="275" r:id="rId6"/>
    <p:sldId id="276" r:id="rId7"/>
    <p:sldId id="270" r:id="rId8"/>
    <p:sldId id="274" r:id="rId9"/>
    <p:sldId id="272" r:id="rId10"/>
    <p:sldId id="271" r:id="rId11"/>
    <p:sldId id="268" r:id="rId12"/>
    <p:sldId id="261" r:id="rId13"/>
    <p:sldId id="262" r:id="rId14"/>
    <p:sldId id="278" r:id="rId15"/>
    <p:sldId id="279" r:id="rId16"/>
    <p:sldId id="277" r:id="rId17"/>
    <p:sldId id="263" r:id="rId18"/>
    <p:sldId id="289" r:id="rId19"/>
    <p:sldId id="286" r:id="rId20"/>
    <p:sldId id="292" r:id="rId21"/>
    <p:sldId id="293" r:id="rId22"/>
    <p:sldId id="294" r:id="rId23"/>
    <p:sldId id="295" r:id="rId24"/>
    <p:sldId id="296" r:id="rId25"/>
    <p:sldId id="285" r:id="rId26"/>
    <p:sldId id="290" r:id="rId27"/>
    <p:sldId id="280" r:id="rId28"/>
    <p:sldId id="281" r:id="rId29"/>
    <p:sldId id="282" r:id="rId30"/>
    <p:sldId id="283" r:id="rId31"/>
    <p:sldId id="297" r:id="rId32"/>
    <p:sldId id="284" r:id="rId33"/>
    <p:sldId id="267" r:id="rId34"/>
    <p:sldId id="273" r:id="rId35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1CCD1-E373-4716-9D8A-4987A630E320}" type="datetimeFigureOut">
              <a:rPr lang="zh-HK" altLang="en-US" smtClean="0"/>
              <a:t>6/10/2026</a:t>
            </a:fld>
            <a:endParaRPr lang="zh-HK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D70F49-052E-41DD-944C-83F5478D43C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54616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70F49-052E-41DD-944C-83F5478D43C7}" type="slidenum">
              <a:rPr lang="zh-HK" altLang="en-US" smtClean="0"/>
              <a:t>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45233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5066F-6A98-47F1-B98E-6B2524E07B02}" type="datetime1">
              <a:rPr lang="en-US" altLang="zh-HK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19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E663C-E1DB-4431-9907-60EFC730CAAA}" type="datetime1">
              <a:rPr lang="en-US" altLang="zh-HK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89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92A2F-3B2B-445A-B0BD-CED743782213}" type="datetime1">
              <a:rPr lang="en-US" altLang="zh-HK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258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A4BD7-1E14-4763-ABDD-C25D7BCC52E3}" type="datetime1">
              <a:rPr lang="en-US" altLang="zh-HK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69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AB84-C45A-4AB2-AFB7-70992A66C2E4}" type="datetime1">
              <a:rPr lang="en-US" altLang="zh-HK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27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50B8-EB88-4367-9B39-17E4A495BC9B}" type="datetime1">
              <a:rPr lang="en-US" altLang="zh-HK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99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10CF2-E4CA-40CD-9D84-49E9A7B61B86}" type="datetime1">
              <a:rPr lang="en-US" altLang="zh-HK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09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48FA-6B12-4AC5-9612-A536D2108848}" type="datetime1">
              <a:rPr lang="en-US" altLang="zh-HK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53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A80F-E6CF-4F42-B876-D92BDE4C0982}" type="datetime1">
              <a:rPr lang="en-US" altLang="zh-HK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140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6D29E-108F-45D9-9F3E-74C6DE970739}" type="datetime1">
              <a:rPr lang="en-US" altLang="zh-HK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38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524CE-6C21-430F-915C-B4B84C80CDEE}" type="datetime1">
              <a:rPr lang="en-US" altLang="zh-HK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656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B10BB57-4DAB-4CE1-995F-5A8632C73618}" type="datetime1">
              <a:rPr lang="en-US" altLang="zh-HK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86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32" r:id="rId6"/>
    <p:sldLayoutId id="2147483727" r:id="rId7"/>
    <p:sldLayoutId id="2147483728" r:id="rId8"/>
    <p:sldLayoutId id="2147483729" r:id="rId9"/>
    <p:sldLayoutId id="2147483731" r:id="rId10"/>
    <p:sldLayoutId id="214748373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593CEDD-F1FC-48C9-676C-CD4D9A61B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6144298" cy="4416552"/>
          </a:xfrm>
        </p:spPr>
        <p:txBody>
          <a:bodyPr anchor="t">
            <a:noAutofit/>
          </a:bodyPr>
          <a:lstStyle/>
          <a:p>
            <a:br>
              <a:rPr lang="en-US" altLang="zh-HK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HK" sz="3200" dirty="0">
                <a:latin typeface="Calibri" panose="020F0502020204030204" pitchFamily="34" charset="0"/>
                <a:cs typeface="Calibri" panose="020F0502020204030204" pitchFamily="34" charset="0"/>
              </a:rPr>
              <a:t>Hospital Canteen Ordering and Delivery System</a:t>
            </a:r>
            <a:endParaRPr kumimoji="1" lang="zh-HK" altLang="en-US" sz="3200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46260-C3DD-EA11-D903-E947551F7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</a:t>
            </a:fld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C315C71-FEFA-A3B6-D6CE-4A7202B829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234830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10BCF8-6F27-58CB-43C7-836B35BDA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3600">
                <a:latin typeface="Calibri" panose="020F0502020204030204" pitchFamily="34" charset="0"/>
                <a:cs typeface="Calibri" panose="020F0502020204030204" pitchFamily="34" charset="0"/>
              </a:rPr>
              <a:t>Hospital Canteen Ordering and Delivery System</a:t>
            </a:r>
            <a:endParaRPr lang="zh-TW" altLang="en-US" sz="360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95DF104-8A7C-C3CD-C482-737F3A441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6280" y="1883666"/>
            <a:ext cx="5166360" cy="658368"/>
          </a:xfrm>
        </p:spPr>
        <p:txBody>
          <a:bodyPr>
            <a:normAutofit/>
          </a:bodyPr>
          <a:lstStyle/>
          <a:p>
            <a:r>
              <a:rPr lang="en-US" altLang="zh-HK" sz="2800" b="1" i="0"/>
              <a:t>Purpose:</a:t>
            </a:r>
            <a:endParaRPr lang="zh-HK" altLang="en-US" sz="2800" b="1" i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B20F7E-E6B2-88BD-CBF6-EA24E578B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128" y="2825497"/>
            <a:ext cx="6025896" cy="3310128"/>
          </a:xfrm>
        </p:spPr>
        <p:txBody>
          <a:bodyPr>
            <a:normAutofit/>
          </a:bodyPr>
          <a:lstStyle/>
          <a:p>
            <a:r>
              <a:rPr lang="en-US" altLang="zh-TW" sz="2000"/>
              <a:t>Hospital Canteen Ordering and Delivery System</a:t>
            </a:r>
          </a:p>
          <a:p>
            <a:r>
              <a:rPr lang="en-US" altLang="zh-TW" sz="2000"/>
              <a:t>Solving the problem:</a:t>
            </a:r>
          </a:p>
          <a:p>
            <a:pPr lvl="1"/>
            <a:r>
              <a:rPr lang="en-US" altLang="zh-TW" sz="2000"/>
              <a:t>People who being too busy to order food in person</a:t>
            </a:r>
          </a:p>
          <a:p>
            <a:pPr lvl="1"/>
            <a:r>
              <a:rPr lang="en-US" altLang="zh-TW" sz="2000"/>
              <a:t>Delivering food to people with disabilities</a:t>
            </a:r>
            <a:endParaRPr lang="zh-TW" altLang="en-US" sz="20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C9EC07C-9AC6-6D7A-84D4-6E12669DEC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4" y="1883666"/>
            <a:ext cx="5166360" cy="658368"/>
          </a:xfrm>
        </p:spPr>
        <p:txBody>
          <a:bodyPr>
            <a:normAutofit/>
          </a:bodyPr>
          <a:lstStyle/>
          <a:p>
            <a:r>
              <a:rPr lang="en-US" altLang="zh-HK" sz="2800" b="1" i="0"/>
              <a:t>Target Users:</a:t>
            </a:r>
            <a:endParaRPr lang="zh-HK" altLang="en-US" sz="2800" b="1" i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9B95AD9-9CB9-E311-EA87-4B82E42844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04432" y="2825497"/>
            <a:ext cx="5166360" cy="33101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HK" sz="2000"/>
              <a:t>Hospital patients</a:t>
            </a:r>
          </a:p>
          <a:p>
            <a:r>
              <a:rPr lang="en-US" altLang="zh-HK" sz="2000"/>
              <a:t>Doctors</a:t>
            </a:r>
          </a:p>
          <a:p>
            <a:r>
              <a:rPr lang="en-US" altLang="zh-HK" sz="2000"/>
              <a:t>Nurses</a:t>
            </a:r>
          </a:p>
          <a:p>
            <a:r>
              <a:rPr lang="en-US" altLang="zh-HK" sz="2000"/>
              <a:t>Visitors</a:t>
            </a:r>
            <a:endParaRPr lang="zh-HK" altLang="en-US" sz="200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AF6DD-4434-FC88-ECCC-B45BAD0C5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29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3325F1-86D2-2B61-4D93-EF4951A41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804671"/>
            <a:ext cx="11155680" cy="1463040"/>
          </a:xfrm>
        </p:spPr>
        <p:txBody>
          <a:bodyPr/>
          <a:lstStyle/>
          <a:p>
            <a:r>
              <a:rPr kumimoji="1" lang="en-US" altLang="zh-HK"/>
              <a:t>PACT - </a:t>
            </a:r>
            <a:r>
              <a:rPr lang="en-US" altLang="zh-HK"/>
              <a:t>People</a:t>
            </a:r>
            <a:br>
              <a:rPr lang="zh-TW" altLang="en-US"/>
            </a:br>
            <a:endParaRPr kumimoji="1"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5EAA58-4A41-D95D-2569-327207327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528" y="1536192"/>
            <a:ext cx="11487912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>
                <a:ea typeface="+mn-lt"/>
                <a:cs typeface="+mn-lt"/>
              </a:rPr>
              <a:t>Diners: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 e.g. Hospital patient, Hospital Staff and Visitor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 Characteristics: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	Lack of mobility 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	Variable degrees of exposure to technology</a:t>
            </a:r>
          </a:p>
          <a:p>
            <a:r>
              <a:rPr lang="en-US">
                <a:ea typeface="+mn-lt"/>
                <a:cs typeface="+mn-lt"/>
              </a:rPr>
              <a:t>Requirement: 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	An easy-to-navigate interface where diners can customize </a:t>
            </a:r>
            <a:r>
              <a:rPr lang="en-US" altLang="zh-HK"/>
              <a:t>choosing</a:t>
            </a:r>
            <a:r>
              <a:rPr lang="en-US" altLang="zh-HK" b="1"/>
              <a:t> </a:t>
            </a:r>
            <a:r>
              <a:rPr lang="en-US">
                <a:ea typeface="+mn-lt"/>
                <a:cs typeface="+mn-lt"/>
              </a:rPr>
              <a:t>their meals -&gt; needs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	Restrictions on their diet or language barriers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Hospital Canteen Employee: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 	e.g. Kitchen manager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 	Characteristics: Fast-paced environment and processing numerous orders in a very short time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 	Requirement: A single dashboard for manage the daily result of orders and menu</a:t>
            </a:r>
          </a:p>
          <a:p>
            <a:endParaRPr lang="zh-HK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A7FBC-F161-265B-0952-D3EF95238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89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04042-E19B-FC84-3AF0-89B762E81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C811CF-D120-591C-111F-4D3FBEF1E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50392"/>
            <a:ext cx="11155680" cy="1463040"/>
          </a:xfrm>
        </p:spPr>
        <p:txBody>
          <a:bodyPr/>
          <a:lstStyle/>
          <a:p>
            <a:r>
              <a:rPr kumimoji="1" lang="en-US" altLang="zh-HK"/>
              <a:t>PACT - </a:t>
            </a:r>
            <a:r>
              <a:rPr lang="en-US" altLang="zh-HK"/>
              <a:t>Activities</a:t>
            </a:r>
            <a:br>
              <a:rPr lang="zh-TW" altLang="zh-HK" u="sng"/>
            </a:br>
            <a:endParaRPr kumimoji="1"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C0F97F-49E3-C518-A957-993481C0D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416" y="1801368"/>
            <a:ext cx="11076432" cy="48280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HK" sz="2400">
                <a:ea typeface="+mn-lt"/>
                <a:cs typeface="+mn-lt"/>
              </a:rPr>
              <a:t>D</a:t>
            </a:r>
            <a:r>
              <a:rPr lang="zh-HK" sz="2400">
                <a:ea typeface="+mn-lt"/>
                <a:cs typeface="+mn-lt"/>
              </a:rPr>
              <a:t>iners</a:t>
            </a:r>
            <a:r>
              <a:rPr lang="en-US" altLang="zh-HK" sz="2000">
                <a:ea typeface="+mn-lt"/>
                <a:cs typeface="+mn-lt"/>
              </a:rPr>
              <a:t>:</a:t>
            </a:r>
            <a:endParaRPr lang="zh-HK" altLang="en-US" sz="2000">
              <a:ea typeface="+mn-lt"/>
              <a:cs typeface="+mn-lt"/>
            </a:endParaRPr>
          </a:p>
          <a:p>
            <a:pPr lvl="1"/>
            <a:r>
              <a:rPr lang="en-US" altLang="zh-HK" sz="2000">
                <a:ea typeface="+mn-lt"/>
                <a:cs typeface="+mn-lt"/>
              </a:rPr>
              <a:t>Choose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a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language and </a:t>
            </a:r>
            <a:r>
              <a:rPr lang="zh-HK" sz="2000">
                <a:ea typeface="+mn-lt"/>
                <a:cs typeface="+mn-lt"/>
              </a:rPr>
              <a:t>Log in</a:t>
            </a:r>
            <a:r>
              <a:rPr lang="en-US" altLang="zh-HK" sz="2000">
                <a:ea typeface="+mn-lt"/>
                <a:cs typeface="+mn-lt"/>
              </a:rPr>
              <a:t> with their accounts</a:t>
            </a:r>
          </a:p>
          <a:p>
            <a:pPr lvl="1"/>
            <a:r>
              <a:rPr lang="en-US" altLang="zh-HK" sz="2000">
                <a:ea typeface="+mn-lt"/>
                <a:cs typeface="+mn-lt"/>
              </a:rPr>
              <a:t>Provided clean </a:t>
            </a:r>
            <a:r>
              <a:rPr lang="zh-HK" sz="2000">
                <a:ea typeface="+mn-lt"/>
                <a:cs typeface="+mn-lt"/>
              </a:rPr>
              <a:t>menu</a:t>
            </a:r>
            <a:r>
              <a:rPr lang="en-US" altLang="zh-HK" sz="2000">
                <a:ea typeface="+mn-lt"/>
                <a:cs typeface="+mn-lt"/>
              </a:rPr>
              <a:t> for b</a:t>
            </a:r>
            <a:r>
              <a:rPr lang="zh-HK" altLang="zh-HK" sz="2000">
                <a:ea typeface="+mn-lt"/>
                <a:cs typeface="+mn-lt"/>
              </a:rPr>
              <a:t>rowse</a:t>
            </a:r>
            <a:r>
              <a:rPr lang="zh-HK" sz="2000">
                <a:ea typeface="+mn-lt"/>
                <a:cs typeface="+mn-lt"/>
              </a:rPr>
              <a:t> </a:t>
            </a:r>
            <a:endParaRPr lang="en-US" altLang="zh-HK" sz="2000">
              <a:ea typeface="+mn-lt"/>
              <a:cs typeface="+mn-lt"/>
            </a:endParaRPr>
          </a:p>
          <a:p>
            <a:pPr lvl="1"/>
            <a:r>
              <a:rPr lang="en-US" altLang="zh-HK" sz="2000">
                <a:ea typeface="+mn-lt"/>
                <a:cs typeface="+mn-lt"/>
              </a:rPr>
              <a:t>A</a:t>
            </a:r>
            <a:r>
              <a:rPr lang="zh-HK" sz="2000">
                <a:ea typeface="+mn-lt"/>
                <a:cs typeface="+mn-lt"/>
              </a:rPr>
              <a:t>dd meals to the cart</a:t>
            </a:r>
            <a:r>
              <a:rPr lang="en-US" altLang="zh-HK" sz="2000">
                <a:ea typeface="+mn-lt"/>
                <a:cs typeface="+mn-lt"/>
              </a:rPr>
              <a:t> and Edit</a:t>
            </a:r>
            <a:r>
              <a:rPr lang="zh-HK" altLang="zh-HK" sz="2000">
                <a:ea typeface="+mn-lt"/>
                <a:cs typeface="+mn-lt"/>
              </a:rPr>
              <a:t> items in the cart</a:t>
            </a:r>
            <a:r>
              <a:rPr lang="zh-HK" altLang="en-US" sz="2000">
                <a:ea typeface="+mn-lt"/>
                <a:cs typeface="+mn-lt"/>
              </a:rPr>
              <a:t> </a:t>
            </a:r>
            <a:endParaRPr lang="en-US" altLang="zh-HK" sz="2000">
              <a:ea typeface="+mn-lt"/>
              <a:cs typeface="+mn-lt"/>
            </a:endParaRPr>
          </a:p>
          <a:p>
            <a:pPr lvl="1"/>
            <a:r>
              <a:rPr lang="en-US" altLang="zh-HK" sz="2000">
                <a:ea typeface="+mn-lt"/>
                <a:cs typeface="+mn-lt"/>
              </a:rPr>
              <a:t>S</a:t>
            </a:r>
            <a:r>
              <a:rPr lang="zh-HK" sz="2000">
                <a:ea typeface="+mn-lt"/>
                <a:cs typeface="+mn-lt"/>
              </a:rPr>
              <a:t>elect delivery date and time</a:t>
            </a:r>
            <a:r>
              <a:rPr lang="en-US" altLang="zh-HK" sz="2000">
                <a:ea typeface="+mn-lt"/>
                <a:cs typeface="+mn-lt"/>
              </a:rPr>
              <a:t> with </a:t>
            </a:r>
            <a:r>
              <a:rPr lang="zh-HK" sz="2000">
                <a:ea typeface="+mn-lt"/>
                <a:cs typeface="+mn-lt"/>
              </a:rPr>
              <a:t>specify dietary restrictions</a:t>
            </a:r>
            <a:endParaRPr lang="en-US" altLang="zh-HK" sz="2000">
              <a:ea typeface="+mn-lt"/>
              <a:cs typeface="+mn-lt"/>
            </a:endParaRPr>
          </a:p>
          <a:p>
            <a:pPr lvl="1"/>
            <a:r>
              <a:rPr lang="en-US" altLang="zh-HK" sz="2000">
                <a:ea typeface="+mn-lt"/>
                <a:cs typeface="+mn-lt"/>
              </a:rPr>
              <a:t>S</a:t>
            </a:r>
            <a:r>
              <a:rPr lang="zh-HK" sz="2000">
                <a:ea typeface="+mn-lt"/>
                <a:cs typeface="+mn-lt"/>
              </a:rPr>
              <a:t>ubmit the order</a:t>
            </a:r>
            <a:r>
              <a:rPr lang="en-US" altLang="zh-HK" sz="2000">
                <a:ea typeface="+mn-lt"/>
                <a:cs typeface="+mn-lt"/>
              </a:rPr>
              <a:t> with receiving order number</a:t>
            </a:r>
            <a:endParaRPr lang="zh-HK" altLang="en-US" sz="2000">
              <a:ea typeface="+mn-lt"/>
              <a:cs typeface="+mn-lt"/>
            </a:endParaRPr>
          </a:p>
          <a:p>
            <a:r>
              <a:rPr lang="zh-HK" sz="2400">
                <a:ea typeface="+mn-lt"/>
                <a:cs typeface="+mn-lt"/>
              </a:rPr>
              <a:t>Employe: </a:t>
            </a:r>
            <a:endParaRPr lang="zh-HK" altLang="en-US" sz="2400">
              <a:ea typeface="+mn-lt"/>
              <a:cs typeface="+mn-lt"/>
            </a:endParaRPr>
          </a:p>
          <a:p>
            <a:pPr lvl="1"/>
            <a:r>
              <a:rPr lang="en-US" altLang="zh-HK" sz="2000">
                <a:ea typeface="+mn-lt"/>
                <a:cs typeface="+mn-lt"/>
              </a:rPr>
              <a:t>Admin level </a:t>
            </a:r>
            <a:r>
              <a:rPr lang="zh-HK" sz="2000">
                <a:ea typeface="+mn-lt"/>
                <a:cs typeface="+mn-lt"/>
              </a:rPr>
              <a:t>Log in, add or remove available meals</a:t>
            </a:r>
            <a:endParaRPr lang="en-US" altLang="zh-HK" sz="2000">
              <a:ea typeface="+mn-lt"/>
              <a:cs typeface="+mn-lt"/>
            </a:endParaRPr>
          </a:p>
          <a:p>
            <a:pPr lvl="1"/>
            <a:r>
              <a:rPr lang="en-US" altLang="zh-HK" sz="2000">
                <a:ea typeface="+mn-lt"/>
                <a:cs typeface="+mn-lt"/>
              </a:rPr>
              <a:t>View</a:t>
            </a:r>
            <a:r>
              <a:rPr lang="zh-HK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all</a:t>
            </a:r>
            <a:r>
              <a:rPr lang="zh-HK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pending</a:t>
            </a:r>
            <a:r>
              <a:rPr lang="zh-HK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order</a:t>
            </a:r>
            <a:r>
              <a:rPr lang="zh-HK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details</a:t>
            </a:r>
          </a:p>
          <a:p>
            <a:pPr lvl="1"/>
            <a:r>
              <a:rPr lang="en-US" altLang="zh-HK" sz="2000">
                <a:ea typeface="+mn-lt"/>
                <a:cs typeface="+mn-lt"/>
              </a:rPr>
              <a:t>Update order status (</a:t>
            </a:r>
            <a:r>
              <a:rPr lang="en-US" altLang="zh-HK" sz="2000" err="1">
                <a:ea typeface="+mn-lt"/>
                <a:cs typeface="+mn-lt"/>
              </a:rPr>
              <a:t>e.g</a:t>
            </a:r>
            <a:r>
              <a:rPr lang="en-US" altLang="zh-HK" sz="2000">
                <a:ea typeface="+mn-lt"/>
                <a:cs typeface="+mn-lt"/>
              </a:rPr>
              <a:t>  preparing, ready for delivery, completed)</a:t>
            </a:r>
          </a:p>
          <a:p>
            <a:pPr lvl="1"/>
            <a:r>
              <a:rPr lang="en-US" altLang="zh-HK" sz="2000">
                <a:ea typeface="+mn-lt"/>
                <a:cs typeface="+mn-lt"/>
              </a:rPr>
              <a:t>Food order history </a:t>
            </a:r>
            <a:endParaRPr lang="zh-HK" altLang="en-US" sz="2000"/>
          </a:p>
          <a:p>
            <a:endParaRPr lang="zh-HK" altLang="en-US" sz="2000"/>
          </a:p>
          <a:p>
            <a:endParaRPr lang="zh-HK" altLang="en-US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4E9C6-745E-9E50-3E54-ACE0B1DB4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4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688983A-29B5-F147-36B8-939B5B93D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172" y="3229610"/>
            <a:ext cx="31623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246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6F9469-D7B8-F7C2-B4F9-04185FBAE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PACT - </a:t>
            </a:r>
            <a:r>
              <a:rPr lang="en-US" altLang="zh-TW"/>
              <a:t>Activities</a:t>
            </a:r>
            <a:br>
              <a:rPr lang="zh-TW" altLang="zh-HK"/>
            </a:b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CBDEAB-3B63-AB88-8E74-442DF6017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32" y="1709928"/>
            <a:ext cx="11165840" cy="47752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altLang="zh-TW" sz="2400" b="1"/>
              <a:t>Safety critical</a:t>
            </a:r>
          </a:p>
          <a:p>
            <a:r>
              <a:rPr lang="en-US" sz="2000">
                <a:ea typeface="+mn-lt"/>
                <a:cs typeface="+mn-lt"/>
              </a:rPr>
              <a:t>Patient Safety Profile</a:t>
            </a:r>
            <a:endParaRPr lang="en-US" altLang="zh-TW" sz="2000"/>
          </a:p>
          <a:p>
            <a:pPr lvl="1"/>
            <a:r>
              <a:rPr lang="en-US" sz="2000">
                <a:ea typeface="+mn-lt"/>
                <a:cs typeface="+mn-lt"/>
              </a:rPr>
              <a:t>Creates a permanent:</a:t>
            </a:r>
          </a:p>
          <a:p>
            <a:pPr lvl="2"/>
            <a:r>
              <a:rPr lang="en-US" sz="1800">
                <a:ea typeface="+mn-lt"/>
                <a:cs typeface="+mn-lt"/>
              </a:rPr>
              <a:t>Central record of each patient's specific dietary needs </a:t>
            </a:r>
          </a:p>
          <a:p>
            <a:pPr lvl="2"/>
            <a:r>
              <a:rPr lang="en-US" sz="1800">
                <a:ea typeface="+mn-lt"/>
                <a:cs typeface="+mn-lt"/>
              </a:rPr>
              <a:t>e.g., Allergies, Low Sodium, Diabetic</a:t>
            </a:r>
            <a:endParaRPr lang="en-US" sz="1800"/>
          </a:p>
          <a:p>
            <a:pPr lvl="1"/>
            <a:r>
              <a:rPr lang="en-US" sz="2000">
                <a:ea typeface="+mn-lt"/>
                <a:cs typeface="+mn-lt"/>
              </a:rPr>
              <a:t>Eliminates risk of human error:</a:t>
            </a:r>
          </a:p>
          <a:p>
            <a:pPr lvl="2"/>
            <a:r>
              <a:rPr lang="en-US" sz="1800">
                <a:ea typeface="+mn-lt"/>
                <a:cs typeface="+mn-lt"/>
              </a:rPr>
              <a:t>Removing the need to manually enter critical health information.</a:t>
            </a:r>
            <a:endParaRPr lang="en-US" sz="1800"/>
          </a:p>
          <a:p>
            <a:r>
              <a:rPr lang="en-US" sz="2000"/>
              <a:t>"Smart" Menu Safeguards</a:t>
            </a:r>
          </a:p>
          <a:p>
            <a:pPr lvl="1"/>
            <a:r>
              <a:rPr lang="en-US" sz="2000"/>
              <a:t>Acts as an automated guard by constantly checking menu items </a:t>
            </a:r>
          </a:p>
          <a:p>
            <a:pPr lvl="2"/>
            <a:r>
              <a:rPr lang="en-US" sz="1800"/>
              <a:t>Against the patient's saved profile</a:t>
            </a:r>
          </a:p>
          <a:p>
            <a:pPr lvl="1"/>
            <a:r>
              <a:rPr lang="en-US" sz="2000"/>
              <a:t>Prevents accidental orders of harmful food </a:t>
            </a:r>
          </a:p>
          <a:p>
            <a:pPr lvl="2"/>
            <a:r>
              <a:rPr lang="en-US" sz="1800"/>
              <a:t>By either hiding unsafe items or displaying a critical warning before the item can be added to the cart.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altLang="zh-TW" sz="2000"/>
          </a:p>
          <a:p>
            <a:endParaRPr lang="en-US" altLang="zh-TW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6E8B8-B85C-D97F-C6EF-E9236CC18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94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68AF4F-8DFC-A6D9-A98B-F0A2F07C9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PACT - </a:t>
            </a:r>
            <a:r>
              <a:rPr lang="en-US" altLang="zh-HK"/>
              <a:t>Activities</a:t>
            </a:r>
            <a:br>
              <a:rPr lang="en-US" altLang="zh-HK" u="sng"/>
            </a:br>
            <a:endParaRPr lang="zh-TW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CA92DD-FF73-4DA8-ABBF-144953974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952" y="2066544"/>
            <a:ext cx="11165840" cy="43159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High-Visibility Kitchen Alerts</a:t>
            </a:r>
          </a:p>
          <a:p>
            <a:pPr lvl="1"/>
            <a:r>
              <a:rPr lang="en-US" sz="2400"/>
              <a:t>Dietary information during food preparation</a:t>
            </a:r>
            <a:r>
              <a:rPr lang="en-US" altLang="zh-HK" sz="2400"/>
              <a:t> will not miss critical</a:t>
            </a:r>
          </a:p>
          <a:p>
            <a:pPr lvl="2"/>
            <a:r>
              <a:rPr lang="en-US" altLang="zh-HK" sz="2000"/>
              <a:t>For Kitchen staff</a:t>
            </a:r>
            <a:endParaRPr lang="en-US" sz="2000"/>
          </a:p>
          <a:p>
            <a:pPr lvl="1"/>
            <a:r>
              <a:rPr lang="en-US" sz="2400"/>
              <a:t>Automatically flags any order with a restriction using prominent visual alerts </a:t>
            </a:r>
            <a:r>
              <a:rPr lang="en-US" altLang="zh-HK" sz="2400"/>
              <a:t>on the main dashboard</a:t>
            </a:r>
          </a:p>
          <a:p>
            <a:pPr lvl="2"/>
            <a:r>
              <a:rPr lang="en-US" altLang="zh-HK" sz="2000"/>
              <a:t>Guaranteeing it receives special attention</a:t>
            </a:r>
            <a:endParaRPr lang="en-US" sz="2400"/>
          </a:p>
          <a:p>
            <a:pPr lvl="2"/>
            <a:r>
              <a:rPr lang="en-US" sz="2000">
                <a:highlight>
                  <a:srgbClr val="FF0000"/>
                </a:highlight>
              </a:rPr>
              <a:t>(e.g., a Red banner) </a:t>
            </a:r>
          </a:p>
          <a:p>
            <a:endParaRPr lang="en-US" altLang="zh-TW" sz="3200" b="1" u="sng"/>
          </a:p>
        </p:txBody>
      </p:sp>
      <p:pic>
        <p:nvPicPr>
          <p:cNvPr id="2050" name="Picture 2" descr="Red Emergency Siren Icon with Exclamation Point Symbol in Flat Style.  Business Concept for Web, Marketing,banner, Mobile Apps. Stock Vector -  Illustration of danger, flashing: 335645974">
            <a:extLst>
              <a:ext uri="{FF2B5EF4-FFF2-40B4-BE49-F238E27FC236}">
                <a16:creationId xmlns:a16="http://schemas.microsoft.com/office/drawing/2014/main" id="{B875221B-0910-FAFE-672D-A8FC80FF5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5286" y="3934243"/>
            <a:ext cx="1752146" cy="1752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6A95B-8032-DA6E-215A-2D49B8B7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51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0CF12-835B-64CF-0C54-AB26414BA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81414B-7AC2-155A-3660-25999B80E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HK"/>
              <a:t>PACT - </a:t>
            </a:r>
            <a:r>
              <a:rPr lang="en-US" altLang="zh-HK"/>
              <a:t>Contexts</a:t>
            </a:r>
            <a:br>
              <a:rPr lang="zh-TW" altLang="en-US" u="sng"/>
            </a:br>
            <a:endParaRPr kumimoji="1"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325E40-49AC-B344-67B8-594A695E8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952" y="1783080"/>
            <a:ext cx="11165840" cy="49641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HK" sz="2400">
                <a:ea typeface="+mn-lt"/>
                <a:cs typeface="+mn-lt"/>
              </a:rPr>
              <a:t>Physical Context:</a:t>
            </a:r>
            <a:endParaRPr lang="zh-HK" sz="2000">
              <a:ea typeface="+mn-lt"/>
              <a:cs typeface="+mn-lt"/>
            </a:endParaRPr>
          </a:p>
          <a:p>
            <a:r>
              <a:rPr lang="zh-HK" sz="2400">
                <a:ea typeface="+mn-lt"/>
                <a:cs typeface="+mn-lt"/>
              </a:rPr>
              <a:t>User: </a:t>
            </a:r>
            <a:r>
              <a:rPr lang="en-US" altLang="zh-HK" sz="2400">
                <a:ea typeface="+mn-lt"/>
                <a:cs typeface="+mn-lt"/>
              </a:rPr>
              <a:t>Patients</a:t>
            </a:r>
          </a:p>
          <a:p>
            <a:r>
              <a:rPr lang="zh-HK" sz="2400">
                <a:ea typeface="+mn-lt"/>
                <a:cs typeface="+mn-lt"/>
              </a:rPr>
              <a:t>Activities will mainly be conducted on the bed in the ward</a:t>
            </a:r>
            <a:endParaRPr lang="en-US" altLang="zh-HK" sz="2400">
              <a:ea typeface="+mn-lt"/>
              <a:cs typeface="+mn-lt"/>
            </a:endParaRPr>
          </a:p>
          <a:p>
            <a:pPr lvl="1"/>
            <a:r>
              <a:rPr lang="en-US" altLang="zh-HK" sz="2000">
                <a:ea typeface="+mn-lt"/>
                <a:cs typeface="+mn-lt"/>
              </a:rPr>
              <a:t>P</a:t>
            </a:r>
            <a:r>
              <a:rPr lang="zh-HK" sz="2000">
                <a:ea typeface="+mn-lt"/>
                <a:cs typeface="+mn-lt"/>
              </a:rPr>
              <a:t>hysically restricted </a:t>
            </a:r>
            <a:r>
              <a:rPr lang="en-US" altLang="zh-HK" sz="2000">
                <a:ea typeface="+mn-lt"/>
                <a:cs typeface="+mn-lt"/>
              </a:rPr>
              <a:t>- </a:t>
            </a:r>
            <a:r>
              <a:rPr lang="zh-HK" sz="2000">
                <a:ea typeface="+mn-lt"/>
                <a:cs typeface="+mn-lt"/>
              </a:rPr>
              <a:t>illness;</a:t>
            </a:r>
            <a:endParaRPr lang="en-US" altLang="zh-HK" sz="2000">
              <a:ea typeface="+mn-lt"/>
              <a:cs typeface="+mn-lt"/>
            </a:endParaRPr>
          </a:p>
          <a:p>
            <a:pPr lvl="1"/>
            <a:r>
              <a:rPr lang="en-US" altLang="zh-HK" sz="2000">
                <a:ea typeface="+mn-lt"/>
                <a:cs typeface="+mn-lt"/>
              </a:rPr>
              <a:t>T</a:t>
            </a:r>
            <a:r>
              <a:rPr lang="zh-HK" sz="2000">
                <a:ea typeface="+mn-lt"/>
                <a:cs typeface="+mn-lt"/>
              </a:rPr>
              <a:t>he surrounding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zh-HK" sz="2000">
                <a:ea typeface="+mn-lt"/>
                <a:cs typeface="+mn-lt"/>
              </a:rPr>
              <a:t>environment is relatively quiet, noise generated by hospital equipment</a:t>
            </a:r>
            <a:endParaRPr lang="en-US" altLang="zh-HK" sz="2000">
              <a:ea typeface="+mn-lt"/>
              <a:cs typeface="+mn-lt"/>
            </a:endParaRPr>
          </a:p>
          <a:p>
            <a:pPr lvl="1"/>
            <a:r>
              <a:rPr lang="zh-HK" sz="2000">
                <a:ea typeface="+mn-lt"/>
                <a:cs typeface="+mn-lt"/>
              </a:rPr>
              <a:t>He/She will conduct activities through personal mobile devices or the hospital's own screen</a:t>
            </a:r>
            <a:endParaRPr lang="zh-HK" sz="1800">
              <a:ea typeface="+mn-lt"/>
              <a:cs typeface="+mn-lt"/>
            </a:endParaRPr>
          </a:p>
          <a:p>
            <a:r>
              <a:rPr lang="zh-HK" sz="2400">
                <a:ea typeface="+mn-lt"/>
                <a:cs typeface="+mn-lt"/>
              </a:rPr>
              <a:t>Employes: </a:t>
            </a:r>
            <a:endParaRPr lang="en-US" altLang="zh-HK" sz="2400">
              <a:ea typeface="+mn-lt"/>
              <a:cs typeface="+mn-lt"/>
            </a:endParaRPr>
          </a:p>
          <a:p>
            <a:r>
              <a:rPr lang="zh-HK" sz="2400">
                <a:ea typeface="+mn-lt"/>
                <a:cs typeface="+mn-lt"/>
              </a:rPr>
              <a:t>Working in noisy workplaces </a:t>
            </a:r>
            <a:r>
              <a:rPr lang="zh-HK" altLang="zh-HK" sz="2400">
                <a:ea typeface="+mn-lt"/>
                <a:cs typeface="+mn-lt"/>
              </a:rPr>
              <a:t>where many things are being processed at the same time</a:t>
            </a:r>
            <a:endParaRPr lang="en-US" altLang="zh-HK" sz="2400">
              <a:ea typeface="+mn-lt"/>
              <a:cs typeface="+mn-lt"/>
            </a:endParaRPr>
          </a:p>
          <a:p>
            <a:pPr lvl="1"/>
            <a:r>
              <a:rPr lang="en-US" altLang="zh-HK" sz="2000">
                <a:ea typeface="+mn-lt"/>
                <a:cs typeface="+mn-lt"/>
              </a:rPr>
              <a:t>The </a:t>
            </a:r>
            <a:r>
              <a:rPr lang="zh-HK" sz="2000">
                <a:ea typeface="+mn-lt"/>
                <a:cs typeface="+mn-lt"/>
              </a:rPr>
              <a:t>nursing station, logistics office, kitchen</a:t>
            </a:r>
            <a:endParaRPr lang="zh-HK" sz="1800">
              <a:ea typeface="+mn-lt"/>
              <a:cs typeface="+mn-lt"/>
            </a:endParaRPr>
          </a:p>
        </p:txBody>
      </p:sp>
      <p:pic>
        <p:nvPicPr>
          <p:cNvPr id="3074" name="Picture 2" descr="What is a Concomitant Illness?">
            <a:extLst>
              <a:ext uri="{FF2B5EF4-FFF2-40B4-BE49-F238E27FC236}">
                <a16:creationId xmlns:a16="http://schemas.microsoft.com/office/drawing/2014/main" id="{CCC1BD4B-FBC2-6C8E-3666-D070599FE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5871" y="1318098"/>
            <a:ext cx="3166353" cy="2110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4551A-0D2A-8A04-15BB-D16DE04D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8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FE6490-2F6C-9ADF-E3FA-6F34AC421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PACT - </a:t>
            </a:r>
            <a:r>
              <a:rPr lang="en-US" altLang="zh-HK"/>
              <a:t>Contexts</a:t>
            </a:r>
            <a:br>
              <a:rPr lang="en-US" altLang="zh-HK" sz="3600"/>
            </a:br>
            <a:endParaRPr lang="zh-TW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D1621B-994A-64C9-E8F2-8756E7A4A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480" y="1806448"/>
            <a:ext cx="11176000" cy="45212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zh-HK" sz="2400"/>
              <a:t>Social</a:t>
            </a:r>
            <a:r>
              <a:rPr lang="zh-HK" sz="2400"/>
              <a:t> </a:t>
            </a:r>
            <a:r>
              <a:rPr lang="en-US" altLang="zh-HK" sz="2400"/>
              <a:t>Context: User:</a:t>
            </a:r>
            <a:r>
              <a:rPr lang="zh-HK" altLang="zh-HK" sz="2400"/>
              <a:t> </a:t>
            </a:r>
            <a:endParaRPr lang="zh-HK" altLang="en-US" sz="2400"/>
          </a:p>
          <a:p>
            <a:r>
              <a:rPr lang="en-US" altLang="zh-HK" sz="2400"/>
              <a:t>While</a:t>
            </a:r>
            <a:r>
              <a:rPr lang="zh-HK" sz="2400"/>
              <a:t> </a:t>
            </a:r>
            <a:r>
              <a:rPr lang="en-US" altLang="zh-HK" sz="2400"/>
              <a:t>ordering</a:t>
            </a:r>
            <a:r>
              <a:rPr lang="zh-HK" sz="2400"/>
              <a:t> </a:t>
            </a:r>
            <a:r>
              <a:rPr lang="en-US" altLang="zh-HK" sz="2400"/>
              <a:t>meals</a:t>
            </a:r>
            <a:r>
              <a:rPr lang="zh-HK" sz="2400"/>
              <a:t> </a:t>
            </a:r>
            <a:r>
              <a:rPr lang="en-US" altLang="zh-HK" sz="2400"/>
              <a:t>may</a:t>
            </a:r>
            <a:r>
              <a:rPr lang="zh-HK" sz="2400"/>
              <a:t> </a:t>
            </a:r>
            <a:r>
              <a:rPr lang="en-US" altLang="zh-HK" sz="2400"/>
              <a:t>seem</a:t>
            </a:r>
            <a:r>
              <a:rPr lang="zh-HK" sz="2400"/>
              <a:t> </a:t>
            </a:r>
            <a:r>
              <a:rPr lang="en-US" altLang="zh-HK" sz="2400"/>
              <a:t>like</a:t>
            </a:r>
            <a:r>
              <a:rPr lang="zh-HK" sz="2400"/>
              <a:t> </a:t>
            </a:r>
            <a:r>
              <a:rPr lang="en-US" altLang="zh-HK" sz="2400"/>
              <a:t>a</a:t>
            </a:r>
            <a:r>
              <a:rPr lang="zh-HK" sz="2400"/>
              <a:t> </a:t>
            </a:r>
            <a:r>
              <a:rPr lang="en-US" altLang="zh-HK" sz="2400"/>
              <a:t>personal</a:t>
            </a:r>
            <a:r>
              <a:rPr lang="zh-HK" sz="2400"/>
              <a:t> </a:t>
            </a:r>
            <a:r>
              <a:rPr lang="en-US" altLang="zh-HK" sz="2400"/>
              <a:t>activity</a:t>
            </a:r>
          </a:p>
          <a:p>
            <a:r>
              <a:rPr lang="en-US" altLang="zh-HK" sz="2400"/>
              <a:t>Relatives</a:t>
            </a:r>
            <a:r>
              <a:rPr lang="zh-HK" altLang="zh-HK" sz="2400"/>
              <a:t> </a:t>
            </a:r>
            <a:r>
              <a:rPr lang="en-US" altLang="zh-HK" sz="2400"/>
              <a:t>or</a:t>
            </a:r>
            <a:r>
              <a:rPr lang="zh-HK" altLang="zh-HK" sz="2400"/>
              <a:t> </a:t>
            </a:r>
            <a:r>
              <a:rPr lang="en-US" altLang="zh-HK" sz="2400"/>
              <a:t>even</a:t>
            </a:r>
            <a:r>
              <a:rPr lang="zh-HK" altLang="zh-HK" sz="2400"/>
              <a:t> </a:t>
            </a:r>
            <a:r>
              <a:rPr lang="en-US" altLang="zh-HK" sz="2400"/>
              <a:t>patients</a:t>
            </a:r>
            <a:r>
              <a:rPr lang="zh-HK" altLang="zh-HK" sz="2400"/>
              <a:t> </a:t>
            </a:r>
            <a:r>
              <a:rPr lang="en-US" altLang="zh-HK" sz="2400"/>
              <a:t>present</a:t>
            </a:r>
          </a:p>
          <a:p>
            <a:pPr lvl="1"/>
            <a:r>
              <a:rPr lang="en-US" altLang="zh-HK" sz="2000"/>
              <a:t>Problems:</a:t>
            </a:r>
            <a:r>
              <a:rPr lang="zh-HK" sz="2000"/>
              <a:t> </a:t>
            </a:r>
            <a:r>
              <a:rPr lang="en-US" altLang="zh-HK" sz="2000"/>
              <a:t>Using</a:t>
            </a:r>
            <a:r>
              <a:rPr lang="zh-HK" sz="2000"/>
              <a:t> </a:t>
            </a:r>
            <a:r>
              <a:rPr lang="en-US" altLang="zh-HK" sz="2000"/>
              <a:t>the</a:t>
            </a:r>
            <a:r>
              <a:rPr lang="zh-HK" sz="2000"/>
              <a:t> </a:t>
            </a:r>
            <a:r>
              <a:rPr lang="en-US" altLang="zh-HK" sz="2000"/>
              <a:t>system can</a:t>
            </a:r>
            <a:r>
              <a:rPr lang="zh-HK" sz="2000"/>
              <a:t> </a:t>
            </a:r>
            <a:r>
              <a:rPr lang="en-US" altLang="zh-HK" sz="2000"/>
              <a:t>turn</a:t>
            </a:r>
            <a:r>
              <a:rPr lang="zh-HK" sz="2000"/>
              <a:t> </a:t>
            </a:r>
            <a:r>
              <a:rPr lang="en-US" altLang="zh-HK" sz="2000"/>
              <a:t>to</a:t>
            </a:r>
            <a:r>
              <a:rPr lang="zh-HK" sz="2000"/>
              <a:t> </a:t>
            </a:r>
            <a:r>
              <a:rPr lang="en-US" altLang="zh-HK" sz="2000"/>
              <a:t>people</a:t>
            </a:r>
            <a:r>
              <a:rPr lang="zh-HK" sz="2000"/>
              <a:t> </a:t>
            </a:r>
            <a:r>
              <a:rPr lang="en-US" altLang="zh-HK" sz="2000"/>
              <a:t>near</a:t>
            </a:r>
            <a:r>
              <a:rPr lang="zh-HK" sz="2000"/>
              <a:t> </a:t>
            </a:r>
            <a:r>
              <a:rPr lang="en-US" altLang="zh-HK" sz="2000"/>
              <a:t>them</a:t>
            </a:r>
            <a:r>
              <a:rPr lang="zh-HK" sz="2000"/>
              <a:t> </a:t>
            </a:r>
            <a:r>
              <a:rPr lang="en-US" altLang="zh-HK" sz="2000"/>
              <a:t>for</a:t>
            </a:r>
            <a:r>
              <a:rPr lang="zh-HK" sz="2000"/>
              <a:t> </a:t>
            </a:r>
            <a:r>
              <a:rPr lang="en-US" altLang="zh-HK" sz="2000"/>
              <a:t>help.</a:t>
            </a:r>
            <a:r>
              <a:rPr lang="zh-HK" sz="2000"/>
              <a:t> </a:t>
            </a:r>
            <a:endParaRPr lang="en-US" altLang="zh-HK" sz="2000"/>
          </a:p>
          <a:p>
            <a:pPr lvl="1"/>
            <a:r>
              <a:rPr lang="en-US" altLang="zh-HK" sz="2000"/>
              <a:t>It</a:t>
            </a:r>
            <a:r>
              <a:rPr lang="zh-HK" sz="2000"/>
              <a:t> </a:t>
            </a:r>
            <a:r>
              <a:rPr lang="en-US" altLang="zh-HK" sz="2000"/>
              <a:t>should</a:t>
            </a:r>
            <a:r>
              <a:rPr lang="zh-HK" sz="2000"/>
              <a:t> </a:t>
            </a:r>
            <a:r>
              <a:rPr lang="en-US" altLang="zh-HK" sz="2000"/>
              <a:t>not</a:t>
            </a:r>
            <a:r>
              <a:rPr lang="zh-HK" sz="2000"/>
              <a:t> </a:t>
            </a:r>
            <a:r>
              <a:rPr lang="en-US" altLang="zh-HK" sz="2000"/>
              <a:t>be</a:t>
            </a:r>
            <a:r>
              <a:rPr lang="zh-HK" sz="2000"/>
              <a:t> </a:t>
            </a:r>
            <a:r>
              <a:rPr lang="en-US" altLang="zh-HK" sz="2000"/>
              <a:t>complicated</a:t>
            </a:r>
            <a:r>
              <a:rPr lang="zh-HK" sz="2000"/>
              <a:t> </a:t>
            </a:r>
            <a:r>
              <a:rPr lang="en-US" altLang="zh-HK" sz="2000"/>
              <a:t>to</a:t>
            </a:r>
            <a:r>
              <a:rPr lang="zh-HK" sz="2000"/>
              <a:t> </a:t>
            </a:r>
            <a:r>
              <a:rPr lang="en-US" altLang="zh-HK" sz="2000"/>
              <a:t>avoid</a:t>
            </a:r>
            <a:r>
              <a:rPr lang="zh-HK" sz="2000"/>
              <a:t> </a:t>
            </a:r>
            <a:r>
              <a:rPr lang="en-US" altLang="zh-HK" sz="2000"/>
              <a:t>disturbing</a:t>
            </a:r>
            <a:r>
              <a:rPr lang="zh-HK" sz="2000"/>
              <a:t> </a:t>
            </a:r>
            <a:r>
              <a:rPr lang="en-US" altLang="zh-HK" sz="2000"/>
              <a:t>them.</a:t>
            </a:r>
            <a:endParaRPr lang="zh-HK" altLang="en-US" sz="2000"/>
          </a:p>
          <a:p>
            <a:r>
              <a:rPr lang="en-US" altLang="zh-HK" sz="2400"/>
              <a:t>Employe:</a:t>
            </a:r>
            <a:r>
              <a:rPr lang="zh-HK" sz="2400"/>
              <a:t> </a:t>
            </a:r>
            <a:endParaRPr lang="en-US" altLang="zh-HK" sz="2400"/>
          </a:p>
          <a:p>
            <a:r>
              <a:rPr lang="en-US" altLang="zh-HK" sz="2400"/>
              <a:t>Working</a:t>
            </a:r>
            <a:r>
              <a:rPr lang="zh-HK" sz="2400"/>
              <a:t> </a:t>
            </a:r>
            <a:r>
              <a:rPr lang="en-US" altLang="zh-HK" sz="2400"/>
              <a:t>within</a:t>
            </a:r>
            <a:r>
              <a:rPr lang="zh-HK" sz="2400"/>
              <a:t> </a:t>
            </a:r>
            <a:r>
              <a:rPr lang="en-US" altLang="zh-HK" sz="2400"/>
              <a:t>the</a:t>
            </a:r>
            <a:r>
              <a:rPr lang="zh-HK" sz="2400"/>
              <a:t> </a:t>
            </a:r>
            <a:r>
              <a:rPr lang="en-US" altLang="zh-HK" sz="2400"/>
              <a:t>presence</a:t>
            </a:r>
            <a:r>
              <a:rPr lang="zh-HK" sz="2400"/>
              <a:t> </a:t>
            </a:r>
            <a:r>
              <a:rPr lang="en-US" altLang="zh-HK" sz="2400"/>
              <a:t>of</a:t>
            </a:r>
            <a:r>
              <a:rPr lang="zh-HK" sz="2400"/>
              <a:t> </a:t>
            </a:r>
            <a:r>
              <a:rPr lang="en-US" altLang="zh-HK" sz="2400"/>
              <a:t>co-workers</a:t>
            </a:r>
          </a:p>
          <a:p>
            <a:r>
              <a:rPr lang="en-US" altLang="zh-HK" sz="2400"/>
              <a:t>This</a:t>
            </a:r>
            <a:r>
              <a:rPr lang="zh-HK" sz="2400"/>
              <a:t> </a:t>
            </a:r>
            <a:r>
              <a:rPr lang="en-US" altLang="zh-HK" sz="2400"/>
              <a:t>system</a:t>
            </a:r>
            <a:r>
              <a:rPr lang="zh-HK" sz="2400"/>
              <a:t> </a:t>
            </a:r>
            <a:r>
              <a:rPr lang="en-US" altLang="zh-HK" sz="2400"/>
              <a:t>has</a:t>
            </a:r>
            <a:r>
              <a:rPr lang="zh-HK" sz="2400"/>
              <a:t> </a:t>
            </a:r>
            <a:r>
              <a:rPr lang="en-US" altLang="zh-HK" sz="2400"/>
              <a:t>become</a:t>
            </a:r>
            <a:r>
              <a:rPr lang="zh-HK" sz="2400"/>
              <a:t> </a:t>
            </a:r>
            <a:r>
              <a:rPr lang="en-US" altLang="zh-HK" sz="2400"/>
              <a:t>an</a:t>
            </a:r>
            <a:r>
              <a:rPr lang="zh-HK" sz="2400"/>
              <a:t> </a:t>
            </a:r>
            <a:r>
              <a:rPr lang="en-US" altLang="zh-HK" sz="2400"/>
              <a:t>important</a:t>
            </a:r>
            <a:r>
              <a:rPr lang="zh-HK" sz="2400"/>
              <a:t> </a:t>
            </a:r>
            <a:r>
              <a:rPr lang="en-US" altLang="zh-HK" sz="2400"/>
              <a:t>part</a:t>
            </a:r>
            <a:r>
              <a:rPr lang="zh-HK" sz="2400"/>
              <a:t> </a:t>
            </a:r>
            <a:r>
              <a:rPr lang="en-US" altLang="zh-HK" sz="2400"/>
              <a:t>of</a:t>
            </a:r>
            <a:r>
              <a:rPr lang="zh-HK" sz="2400"/>
              <a:t> </a:t>
            </a:r>
            <a:r>
              <a:rPr lang="en-US" altLang="zh-HK" sz="2400"/>
              <a:t>his/her</a:t>
            </a:r>
            <a:r>
              <a:rPr lang="zh-HK" sz="2400"/>
              <a:t> </a:t>
            </a:r>
            <a:r>
              <a:rPr lang="en-US" altLang="zh-HK" sz="2400"/>
              <a:t>daily</a:t>
            </a:r>
            <a:r>
              <a:rPr lang="zh-HK" sz="2400"/>
              <a:t> </a:t>
            </a:r>
            <a:r>
              <a:rPr lang="en-US" altLang="zh-HK" sz="2400"/>
              <a:t>routine</a:t>
            </a:r>
            <a:r>
              <a:rPr lang="zh-HK" sz="2400"/>
              <a:t> </a:t>
            </a:r>
            <a:endParaRPr lang="en-US" altLang="zh-HK" sz="2400"/>
          </a:p>
          <a:p>
            <a:pPr lvl="1"/>
            <a:r>
              <a:rPr lang="en-US" altLang="zh-HK" sz="2000"/>
              <a:t>It</a:t>
            </a:r>
            <a:r>
              <a:rPr lang="zh-HK" sz="2000"/>
              <a:t> </a:t>
            </a:r>
            <a:r>
              <a:rPr lang="en-US" altLang="zh-HK" sz="2000"/>
              <a:t>provides</a:t>
            </a:r>
            <a:r>
              <a:rPr lang="zh-HK" sz="2000"/>
              <a:t> </a:t>
            </a:r>
            <a:r>
              <a:rPr lang="en-US" altLang="zh-HK" sz="2000"/>
              <a:t>a</a:t>
            </a:r>
            <a:r>
              <a:rPr lang="zh-HK" sz="2000"/>
              <a:t> </a:t>
            </a:r>
            <a:r>
              <a:rPr lang="en-US" altLang="zh-HK" sz="2000"/>
              <a:t>way</a:t>
            </a:r>
            <a:r>
              <a:rPr lang="zh-HK" sz="2000"/>
              <a:t> </a:t>
            </a:r>
            <a:r>
              <a:rPr lang="en-US" altLang="zh-HK" sz="2000"/>
              <a:t>for</a:t>
            </a:r>
            <a:r>
              <a:rPr lang="zh-HK" sz="2000"/>
              <a:t> </a:t>
            </a:r>
            <a:r>
              <a:rPr lang="en-US" altLang="zh-HK" sz="2000"/>
              <a:t>communication</a:t>
            </a:r>
            <a:r>
              <a:rPr lang="zh-HK" sz="2000"/>
              <a:t> </a:t>
            </a:r>
            <a:r>
              <a:rPr lang="en-US" altLang="zh-HK" sz="2000"/>
              <a:t>with</a:t>
            </a:r>
            <a:r>
              <a:rPr lang="zh-HK" sz="2000"/>
              <a:t> </a:t>
            </a:r>
            <a:r>
              <a:rPr lang="en-US" altLang="zh-HK" sz="2000"/>
              <a:t>the</a:t>
            </a:r>
            <a:r>
              <a:rPr lang="zh-HK" sz="2000"/>
              <a:t> </a:t>
            </a:r>
            <a:r>
              <a:rPr lang="en-US" altLang="zh-HK" sz="2000"/>
              <a:t>kitchen</a:t>
            </a:r>
            <a:r>
              <a:rPr lang="zh-HK" sz="2000"/>
              <a:t> </a:t>
            </a:r>
            <a:r>
              <a:rPr lang="en-US" altLang="zh-HK" sz="2000"/>
              <a:t>or</a:t>
            </a:r>
            <a:r>
              <a:rPr lang="zh-HK" sz="2000"/>
              <a:t> </a:t>
            </a:r>
            <a:r>
              <a:rPr lang="en-US" altLang="zh-HK" sz="2000"/>
              <a:t>any</a:t>
            </a:r>
            <a:r>
              <a:rPr lang="zh-HK" sz="2000"/>
              <a:t> </a:t>
            </a:r>
            <a:r>
              <a:rPr lang="en-US" altLang="zh-HK" sz="2000"/>
              <a:t>other</a:t>
            </a:r>
            <a:r>
              <a:rPr lang="zh-HK" sz="2000"/>
              <a:t> </a:t>
            </a:r>
            <a:r>
              <a:rPr lang="en-US" altLang="zh-HK" sz="2000"/>
              <a:t>department.</a:t>
            </a:r>
            <a:endParaRPr lang="zh-HK" altLang="en-US" sz="2000"/>
          </a:p>
          <a:p>
            <a:endParaRPr lang="zh-TW" altLang="en-US" sz="2000"/>
          </a:p>
        </p:txBody>
      </p:sp>
      <p:pic>
        <p:nvPicPr>
          <p:cNvPr id="4098" name="Picture 2" descr="Hospital food tied to harm in critically ill patients: experts raise alarm  - Herald Country Market">
            <a:extLst>
              <a:ext uri="{FF2B5EF4-FFF2-40B4-BE49-F238E27FC236}">
                <a16:creationId xmlns:a16="http://schemas.microsoft.com/office/drawing/2014/main" id="{A804696A-6A93-546C-71F6-7BD4CFCE5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712" y="3084647"/>
            <a:ext cx="3225800" cy="1822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063CE-7A4C-BFD5-444C-06F45226F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72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01F2F-B5C9-1A82-A2B0-C8730E1F0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BB8951-3F4C-DB52-E401-2A0A4F664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HK"/>
              <a:t>PACT - </a:t>
            </a:r>
            <a:r>
              <a:rPr lang="en-US" altLang="zh-HK"/>
              <a:t>Contexts</a:t>
            </a:r>
            <a:br>
              <a:rPr lang="zh-TW" altLang="en-US" u="sng"/>
            </a:br>
            <a:endParaRPr kumimoji="1"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BC99C2-0F86-13C4-2B02-C54496146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845220"/>
            <a:ext cx="11155680" cy="41696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HK" sz="2800" b="1">
                <a:ea typeface="+mn-lt"/>
                <a:cs typeface="+mn-lt"/>
              </a:rPr>
              <a:t>Organizational</a:t>
            </a:r>
            <a:r>
              <a:rPr lang="zh-HK" altLang="en-US" sz="2800" b="1">
                <a:ea typeface="+mn-lt"/>
                <a:cs typeface="+mn-lt"/>
              </a:rPr>
              <a:t> </a:t>
            </a:r>
            <a:r>
              <a:rPr lang="en-US" altLang="zh-HK" sz="2800" b="1">
                <a:ea typeface="+mn-lt"/>
                <a:cs typeface="+mn-lt"/>
              </a:rPr>
              <a:t>Background:</a:t>
            </a:r>
            <a:endParaRPr lang="zh-HK" altLang="en-US" sz="2800" b="1"/>
          </a:p>
          <a:p>
            <a:r>
              <a:rPr lang="en-US" altLang="zh-HK" sz="2400">
                <a:ea typeface="+mn-lt"/>
                <a:cs typeface="+mn-lt"/>
              </a:rPr>
              <a:t>The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proposed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system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is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one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component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of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the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total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service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chain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for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the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hospital</a:t>
            </a:r>
          </a:p>
          <a:p>
            <a:r>
              <a:rPr lang="en-US" altLang="zh-HK" sz="2400">
                <a:ea typeface="+mn-lt"/>
                <a:cs typeface="+mn-lt"/>
              </a:rPr>
              <a:t>Designed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to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enhance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the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quality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of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patient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care</a:t>
            </a:r>
            <a:r>
              <a:rPr lang="zh-HK" altLang="en-US" sz="2400">
                <a:ea typeface="+mn-lt"/>
                <a:cs typeface="+mn-lt"/>
              </a:rPr>
              <a:t> </a:t>
            </a:r>
            <a:endParaRPr lang="en-US" altLang="zh-HK" sz="2400">
              <a:ea typeface="+mn-lt"/>
              <a:cs typeface="+mn-lt"/>
            </a:endParaRPr>
          </a:p>
          <a:p>
            <a:pPr lvl="1"/>
            <a:r>
              <a:rPr lang="en-US" altLang="zh-HK" sz="2000">
                <a:ea typeface="+mn-lt"/>
                <a:cs typeface="+mn-lt"/>
              </a:rPr>
              <a:t>increase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the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effectiveness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of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logistics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activities</a:t>
            </a:r>
            <a:endParaRPr lang="zh-HK" altLang="en-US" sz="2000"/>
          </a:p>
          <a:p>
            <a:r>
              <a:rPr lang="en-US" altLang="zh-HK" sz="2400">
                <a:ea typeface="+mn-lt"/>
                <a:cs typeface="+mn-lt"/>
              </a:rPr>
              <a:t>Altered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the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SOP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in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the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hospital</a:t>
            </a:r>
            <a:r>
              <a:rPr lang="zh-HK" altLang="en-US" sz="2400">
                <a:ea typeface="+mn-lt"/>
                <a:cs typeface="+mn-lt"/>
              </a:rPr>
              <a:t> </a:t>
            </a:r>
            <a:endParaRPr lang="en-US" altLang="zh-HK" sz="2400">
              <a:ea typeface="+mn-lt"/>
              <a:cs typeface="+mn-lt"/>
            </a:endParaRPr>
          </a:p>
          <a:p>
            <a:pPr lvl="1"/>
            <a:r>
              <a:rPr lang="en-US" altLang="zh-HK" sz="2000">
                <a:ea typeface="+mn-lt"/>
                <a:cs typeface="+mn-lt"/>
              </a:rPr>
              <a:t>Nursing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department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and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food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service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department</a:t>
            </a:r>
          </a:p>
          <a:p>
            <a:r>
              <a:rPr lang="en-US" altLang="zh-HK" sz="2400">
                <a:ea typeface="+mn-lt"/>
                <a:cs typeface="+mn-lt"/>
              </a:rPr>
              <a:t>Computerizing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the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existing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manual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process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for</a:t>
            </a:r>
            <a:r>
              <a:rPr lang="zh-HK" altLang="en-US" sz="2400">
                <a:ea typeface="+mn-lt"/>
                <a:cs typeface="+mn-lt"/>
              </a:rPr>
              <a:t> </a:t>
            </a:r>
            <a:r>
              <a:rPr lang="en-US" altLang="zh-HK" sz="2400">
                <a:ea typeface="+mn-lt"/>
                <a:cs typeface="+mn-lt"/>
              </a:rPr>
              <a:t>ordering</a:t>
            </a:r>
          </a:p>
          <a:p>
            <a:pPr lvl="1"/>
            <a:r>
              <a:rPr lang="en-US" altLang="zh-HK" sz="2000">
                <a:ea typeface="+mn-lt"/>
                <a:cs typeface="+mn-lt"/>
              </a:rPr>
              <a:t>With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the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intention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of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minimizing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human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error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and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manpower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savings</a:t>
            </a:r>
            <a:endParaRPr lang="zh-HK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36C61-4D89-E056-A2A8-E42FE70C4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540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C384C-4DE3-42F3-F865-2694A338A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D0399B-6A64-7C40-4E92-BECF67E12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HK"/>
              <a:t>PACT - </a:t>
            </a:r>
            <a:r>
              <a:rPr lang="en-US" altLang="zh-HK"/>
              <a:t>Technologies</a:t>
            </a:r>
            <a:br>
              <a:rPr lang="zh-TW" altLang="en-US" u="sng"/>
            </a:br>
            <a:endParaRPr kumimoji="1"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55A778-2939-1077-8119-9CF7BCE38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1883664"/>
            <a:ext cx="11155680" cy="453542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>
                <a:ea typeface="+mn-lt"/>
                <a:cs typeface="+mn-lt"/>
              </a:rPr>
              <a:t>Frontend technologies: </a:t>
            </a:r>
          </a:p>
          <a:p>
            <a:pPr lvl="1"/>
            <a:r>
              <a:rPr lang="en-US" sz="2000">
                <a:ea typeface="+mn-lt"/>
                <a:cs typeface="+mn-lt"/>
              </a:rPr>
              <a:t>HTML, CSS, JavaScript</a:t>
            </a:r>
            <a:endParaRPr lang="en-US" sz="1800"/>
          </a:p>
          <a:p>
            <a:r>
              <a:rPr lang="en-US" sz="2400">
                <a:ea typeface="+mn-lt"/>
                <a:cs typeface="+mn-lt"/>
              </a:rPr>
              <a:t>Responsive interface: </a:t>
            </a:r>
          </a:p>
          <a:p>
            <a:pPr lvl="1"/>
            <a:r>
              <a:rPr lang="en-US" sz="2000">
                <a:ea typeface="+mn-lt"/>
                <a:cs typeface="+mn-lt"/>
              </a:rPr>
              <a:t>The interface system can adapt to various screen sizes </a:t>
            </a:r>
          </a:p>
          <a:p>
            <a:pPr lvl="1"/>
            <a:r>
              <a:rPr lang="en-US" sz="2000">
                <a:ea typeface="+mn-lt"/>
                <a:cs typeface="+mn-lt"/>
              </a:rPr>
              <a:t>For Desktop, Mobile Phone, Tablet</a:t>
            </a:r>
            <a:endParaRPr lang="en-US" sz="1800"/>
          </a:p>
          <a:p>
            <a:r>
              <a:rPr lang="en-US" sz="2400">
                <a:ea typeface="+mn-lt"/>
                <a:cs typeface="+mn-lt"/>
              </a:rPr>
              <a:t>Data storage: </a:t>
            </a:r>
          </a:p>
          <a:p>
            <a:pPr lvl="1"/>
            <a:r>
              <a:rPr lang="en-US" sz="2000">
                <a:ea typeface="+mn-lt"/>
                <a:cs typeface="+mn-lt"/>
              </a:rPr>
              <a:t>Data on login credentials, shopping carts:</a:t>
            </a:r>
          </a:p>
          <a:p>
            <a:pPr lvl="1"/>
            <a:r>
              <a:rPr lang="en-US" sz="2000">
                <a:ea typeface="+mn-lt"/>
                <a:cs typeface="+mn-lt"/>
              </a:rPr>
              <a:t>Can be stored on the central local servers and database</a:t>
            </a:r>
            <a:endParaRPr lang="en-US" sz="1800"/>
          </a:p>
          <a:p>
            <a:r>
              <a:rPr lang="en-US" sz="2400">
                <a:ea typeface="+mn-lt"/>
                <a:cs typeface="+mn-lt"/>
              </a:rPr>
              <a:t>Multiple language options:</a:t>
            </a:r>
          </a:p>
          <a:p>
            <a:pPr lvl="1"/>
            <a:r>
              <a:rPr lang="en-US" sz="2000">
                <a:ea typeface="+mn-lt"/>
                <a:cs typeface="+mn-lt"/>
              </a:rPr>
              <a:t>System provides capabilities languages switching</a:t>
            </a:r>
          </a:p>
          <a:p>
            <a:pPr lvl="2"/>
            <a:r>
              <a:rPr lang="en-US" altLang="zh-HK" sz="2000">
                <a:ea typeface="+mn-lt"/>
                <a:cs typeface="+mn-lt"/>
              </a:rPr>
              <a:t>Between English, Simplified Chinese, and Traditional Chinese</a:t>
            </a:r>
            <a:endParaRPr lang="en-US" sz="2000"/>
          </a:p>
          <a:p>
            <a:pPr marL="0" indent="0">
              <a:buNone/>
            </a:pPr>
            <a:endParaRPr lang="en-US" sz="2400"/>
          </a:p>
        </p:txBody>
      </p:sp>
      <p:pic>
        <p:nvPicPr>
          <p:cNvPr id="5122" name="Picture 2" descr="Certified...Like New...What does this really mean for Mobile devices?">
            <a:extLst>
              <a:ext uri="{FF2B5EF4-FFF2-40B4-BE49-F238E27FC236}">
                <a16:creationId xmlns:a16="http://schemas.microsoft.com/office/drawing/2014/main" id="{5D6F6B83-2710-0E0E-D695-B3123E334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627" y="3657564"/>
            <a:ext cx="3759141" cy="2398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01251-8B64-C28B-0E74-DF085EA5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22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36139-006B-7028-8308-67A1C7660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4BE5E4-529A-A4F9-62AF-FF1487944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877824"/>
            <a:ext cx="11155680" cy="1463040"/>
          </a:xfrm>
        </p:spPr>
        <p:txBody>
          <a:bodyPr/>
          <a:lstStyle/>
          <a:p>
            <a:r>
              <a:rPr kumimoji="1" lang="en-US" altLang="zh-HK"/>
              <a:t>PACT SUMMARIZE</a:t>
            </a:r>
            <a:endParaRPr kumimoji="1"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B8650CA-41FD-173F-63B6-99D142918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1865376"/>
            <a:ext cx="11275240" cy="4553712"/>
          </a:xfrm>
        </p:spPr>
        <p:txBody>
          <a:bodyPr>
            <a:normAutofit lnSpcReduction="10000"/>
          </a:bodyPr>
          <a:lstStyle/>
          <a:p>
            <a:r>
              <a:rPr lang="en-US" altLang="zh-HK" sz="2000" b="1"/>
              <a:t>People: </a:t>
            </a:r>
          </a:p>
          <a:p>
            <a:pPr lvl="1"/>
            <a:r>
              <a:rPr lang="en-US" altLang="zh-HK" sz="1800"/>
              <a:t>Hospital patient, hospital staff, kitchen manager and visitor</a:t>
            </a:r>
          </a:p>
          <a:p>
            <a:pPr lvl="1"/>
            <a:r>
              <a:rPr lang="en-US" altLang="zh-HK" sz="1800"/>
              <a:t>Different language users</a:t>
            </a:r>
          </a:p>
          <a:p>
            <a:pPr lvl="1"/>
            <a:r>
              <a:rPr lang="en-US" altLang="zh-HK" sz="1800"/>
              <a:t>People with disabilities (Blindness, Handless, Deaf, Mute, Speechless, illness)</a:t>
            </a:r>
          </a:p>
          <a:p>
            <a:r>
              <a:rPr lang="en-US" altLang="zh-HK" sz="2000" b="1"/>
              <a:t>Activities:</a:t>
            </a:r>
          </a:p>
          <a:p>
            <a:pPr lvl="1">
              <a:buClr>
                <a:srgbClr val="000000"/>
              </a:buClr>
            </a:pPr>
            <a:r>
              <a:rPr lang="en-US" altLang="zh-HK" sz="1800"/>
              <a:t>Checking nutritional, placing or scheduling orders, choosing delivery locations, and making payments.</a:t>
            </a:r>
          </a:p>
          <a:p>
            <a:r>
              <a:rPr lang="en-US" altLang="zh-HK" sz="2000" b="1"/>
              <a:t>Contexts:</a:t>
            </a:r>
          </a:p>
          <a:p>
            <a:pPr lvl="1">
              <a:buClr>
                <a:srgbClr val="000000"/>
              </a:buClr>
            </a:pPr>
            <a:r>
              <a:rPr lang="en-US" altLang="zh-HK" sz="1800">
                <a:ea typeface="+mn-lt"/>
                <a:cs typeface="+mn-lt"/>
              </a:rPr>
              <a:t>The system operates in a busy hospital environment where hygiene, safety, and privacy requirements are strict.</a:t>
            </a:r>
            <a:endParaRPr lang="en-US" altLang="zh-HK" sz="1800"/>
          </a:p>
          <a:p>
            <a:r>
              <a:rPr lang="en-US" altLang="zh-HK" sz="2000" b="1"/>
              <a:t>Technologies:</a:t>
            </a:r>
          </a:p>
          <a:p>
            <a:pPr lvl="1">
              <a:buClr>
                <a:srgbClr val="000000"/>
              </a:buClr>
            </a:pPr>
            <a:r>
              <a:rPr lang="en-US" altLang="zh-HK" sz="1800">
                <a:ea typeface="+mn-lt"/>
                <a:cs typeface="+mn-lt"/>
              </a:rPr>
              <a:t>Combines a web or mobile app, bedside terminals or tablets, and kiosks connected to a central ordering and kitchen management system.</a:t>
            </a:r>
          </a:p>
          <a:p>
            <a:pPr marL="457200" lvl="1" indent="0">
              <a:buNone/>
            </a:pPr>
            <a:endParaRPr lang="en-US" altLang="zh-HK" sz="1800"/>
          </a:p>
          <a:p>
            <a:endParaRPr kumimoji="1" lang="zh-HK" altLang="en-US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0CC47-7AAF-692C-C2EC-E6A7DAA6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922ED4-E516-0F85-FFB1-50E5C1D8A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/>
              <a:t>Data Gathering - </a:t>
            </a:r>
            <a:r>
              <a:rPr lang="en-US" altLang="zh-HK"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br>
              <a:rPr lang="en-US" altLang="zh-HK"/>
            </a:br>
            <a:endParaRPr kumimoji="1"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566FEB-9B95-F4A2-62D2-246D1AB6B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892808"/>
            <a:ext cx="11000232" cy="464515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altLang="zh-HK" sz="2000"/>
              <a:t>Questionnaires for all patient when they leaving hospital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altLang="zh-HK" sz="2000"/>
              <a:t>Collect a large amount of 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altLang="zh-HK" sz="2000"/>
              <a:t>Collect people‘s opinions on the current canteen model.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altLang="zh-HK" sz="2000"/>
              <a:t>Ordering habits, waiting time, preferred devices, and delivery preferences.</a:t>
            </a:r>
          </a:p>
          <a:p>
            <a:r>
              <a:rPr lang="en-US" altLang="zh-HK" sz="2000"/>
              <a:t>Interview between long term patient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000"/>
              <a:t>Able to deeply understand the problem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000"/>
              <a:t>Talk to canteen and ward staff, and a few users to learn about operational issues, order handling, and delivery problem</a:t>
            </a:r>
          </a:p>
          <a:p>
            <a:r>
              <a:rPr lang="en-US" sz="2000"/>
              <a:t>Observation system performance</a:t>
            </a:r>
            <a:endParaRPr lang="en-US" altLang="zh-HK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Gain a deep understanding of the specific steps, time costs, and potential issues 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sz="1800">
                <a:ea typeface="+mn-lt"/>
                <a:cs typeface="+mn-lt"/>
              </a:rPr>
              <a:t>In the current manual ordering process</a:t>
            </a:r>
            <a:endParaRPr lang="en-US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Ensure the new system can address real-world problems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endParaRPr lang="en-US" sz="1800"/>
          </a:p>
          <a:p>
            <a:pPr marL="457200" lvl="1" indent="0">
              <a:buNone/>
            </a:pPr>
            <a:endParaRPr lang="en-US" altLang="zh-HK" sz="2000"/>
          </a:p>
          <a:p>
            <a:endParaRPr lang="zh-HK" altLang="en-US" sz="2000"/>
          </a:p>
        </p:txBody>
      </p:sp>
      <p:pic>
        <p:nvPicPr>
          <p:cNvPr id="6146" name="Picture 2" descr="How to Make a Questionnaire: 15 Steps (with Pictures) - wikiHow">
            <a:extLst>
              <a:ext uri="{FF2B5EF4-FFF2-40B4-BE49-F238E27FC236}">
                <a16:creationId xmlns:a16="http://schemas.microsoft.com/office/drawing/2014/main" id="{252795B8-2EF7-F257-F4AC-BB110B414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6527" y="870026"/>
            <a:ext cx="2727417" cy="204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D5377-4AE6-1986-235A-220B4F547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37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17D6B7-5C3C-9B12-2B89-896E24254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User Stories</a:t>
            </a:r>
            <a:br>
              <a:rPr lang="en-US"/>
            </a:br>
            <a:endParaRPr lang="en-US" altLang="zh-HK" b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F20A99-CE8D-A00E-C0F6-9F317AA48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837944"/>
            <a:ext cx="11237976" cy="485546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85750">
              <a:buClr>
                <a:srgbClr val="000000"/>
              </a:buClr>
            </a:pPr>
            <a:r>
              <a:rPr lang="en-US" sz="2000" b="1">
                <a:ea typeface="+mn-lt"/>
                <a:cs typeface="+mn-lt"/>
              </a:rPr>
              <a:t>Patient: </a:t>
            </a:r>
          </a:p>
          <a:p>
            <a:pPr marL="285750" indent="-285750">
              <a:buClr>
                <a:srgbClr val="000000"/>
              </a:buClr>
            </a:pPr>
            <a:r>
              <a:rPr lang="en-US" sz="2000">
                <a:ea typeface="+mn-lt"/>
                <a:cs typeface="+mn-lt"/>
              </a:rPr>
              <a:t>“Being a bedridden patient with limited movement, I wish that it would be easy for me to go through the menu and place orders via my tablet so that I wouldn’t always have to wait and disturb the nurses.”</a:t>
            </a:r>
            <a:endParaRPr lang="en-US" sz="2000"/>
          </a:p>
          <a:p>
            <a:pPr>
              <a:buNone/>
            </a:pPr>
            <a:endParaRPr lang="en-US" sz="2000"/>
          </a:p>
          <a:p>
            <a:pPr marL="285750" indent="-285750"/>
            <a:r>
              <a:rPr lang="en-US" sz="2000" b="1">
                <a:ea typeface="+mn-lt"/>
                <a:cs typeface="+mn-lt"/>
              </a:rPr>
              <a:t>Kitchen Staff: </a:t>
            </a:r>
          </a:p>
          <a:p>
            <a:pPr marL="285750" indent="-285750"/>
            <a:r>
              <a:rPr lang="en-US" sz="2000">
                <a:ea typeface="+mn-lt"/>
                <a:cs typeface="+mn-lt"/>
              </a:rPr>
              <a:t>“Being a kitchen staff member, I wish that I could view the details of new orders on a dashboard immediately in order to effectively organize the sequence of preparing meals.”</a:t>
            </a:r>
            <a:endParaRPr lang="en-US" sz="2000"/>
          </a:p>
          <a:p>
            <a:pPr>
              <a:buNone/>
            </a:pPr>
            <a:endParaRPr lang="en-US" sz="2000"/>
          </a:p>
          <a:p>
            <a:pPr marL="285750" indent="-285750"/>
            <a:r>
              <a:rPr lang="en-US" sz="2000" b="1">
                <a:ea typeface="+mn-lt"/>
                <a:cs typeface="+mn-lt"/>
              </a:rPr>
              <a:t>System Administrator: </a:t>
            </a:r>
          </a:p>
          <a:p>
            <a:pPr marL="285750" indent="-285750"/>
            <a:r>
              <a:rPr lang="en-US" sz="2000">
                <a:ea typeface="+mn-lt"/>
                <a:cs typeface="+mn-lt"/>
              </a:rPr>
              <a:t>“Being a system administrator, I wish that it would be easy for me to add or delete employee accounts in order to restrict access to those who are authorized.”</a:t>
            </a:r>
            <a:endParaRPr lang="en-US" sz="2000"/>
          </a:p>
        </p:txBody>
      </p:sp>
      <p:pic>
        <p:nvPicPr>
          <p:cNvPr id="7170" name="Picture 2" descr="5 Common IT User Types, and How to Deal with Them">
            <a:extLst>
              <a:ext uri="{FF2B5EF4-FFF2-40B4-BE49-F238E27FC236}">
                <a16:creationId xmlns:a16="http://schemas.microsoft.com/office/drawing/2014/main" id="{A3A47397-2686-DEFF-8BCE-32D2DF3B2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7664" y="731520"/>
            <a:ext cx="2943127" cy="1545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E8FB3-68A3-BD14-FEED-5599357D9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35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9D623-2E12-4281-08B0-813231F28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996B6F2-0689-A7F5-2AB6-C2867B298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Scenarios &amp; Use Cases</a:t>
            </a:r>
            <a:br>
              <a:rPr lang="en-US" sz="3700"/>
            </a:br>
            <a:endParaRPr lang="en-US" altLang="zh-HK" sz="3700" b="0"/>
          </a:p>
        </p:txBody>
      </p:sp>
      <p:sp>
        <p:nvSpPr>
          <p:cNvPr id="14" name="Freeform: Shape 10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7B741E-597D-2AE3-106E-560F054E4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648116"/>
            <a:ext cx="7412862" cy="497213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Clr>
                <a:srgbClr val="000000"/>
              </a:buClr>
              <a:buNone/>
            </a:pPr>
            <a:r>
              <a:rPr lang="en-US" sz="2400" b="1">
                <a:ea typeface="+mn-lt"/>
                <a:cs typeface="+mn-lt"/>
              </a:rPr>
              <a:t>Conceptual Scenario</a:t>
            </a:r>
            <a:endParaRPr lang="zh-TW" altLang="en-US" sz="2400" b="1"/>
          </a:p>
          <a:p>
            <a:r>
              <a:rPr lang="en-US" sz="2000">
                <a:solidFill>
                  <a:srgbClr val="FF0000"/>
                </a:solidFill>
                <a:ea typeface="+mn-lt"/>
                <a:cs typeface="+mn-lt"/>
              </a:rPr>
              <a:t>Meet Mrs. Chen</a:t>
            </a:r>
            <a:r>
              <a:rPr lang="en-US" sz="2000">
                <a:ea typeface="+mn-lt"/>
                <a:cs typeface="+mn-lt"/>
              </a:rPr>
              <a:t>: </a:t>
            </a:r>
          </a:p>
          <a:p>
            <a:pPr lvl="1"/>
            <a:r>
              <a:rPr lang="en-US" sz="1800">
                <a:ea typeface="+mn-lt"/>
                <a:cs typeface="+mn-lt"/>
              </a:rPr>
              <a:t>A patient recovering from a broken leg, confined to her hospital bed.</a:t>
            </a:r>
            <a:endParaRPr lang="en-US" sz="1800"/>
          </a:p>
          <a:p>
            <a:r>
              <a:rPr lang="en-US" sz="2000">
                <a:solidFill>
                  <a:srgbClr val="FF0000"/>
                </a:solidFill>
                <a:ea typeface="+mn-lt"/>
                <a:cs typeface="+mn-lt"/>
              </a:rPr>
              <a:t>The Daily Struggle</a:t>
            </a:r>
            <a:r>
              <a:rPr lang="en-US" sz="2000">
                <a:ea typeface="+mn-lt"/>
                <a:cs typeface="+mn-lt"/>
              </a:rPr>
              <a:t>: </a:t>
            </a:r>
          </a:p>
          <a:p>
            <a:pPr lvl="1"/>
            <a:r>
              <a:rPr lang="en-US" sz="1800">
                <a:ea typeface="+mn-lt"/>
                <a:cs typeface="+mn-lt"/>
              </a:rPr>
              <a:t>Growing weary of identical hospital-issued meals.</a:t>
            </a:r>
            <a:endParaRPr lang="en-US" sz="1800"/>
          </a:p>
          <a:p>
            <a:r>
              <a:rPr lang="en-US" sz="2000">
                <a:solidFill>
                  <a:srgbClr val="FF0000"/>
                </a:solidFill>
                <a:ea typeface="+mn-lt"/>
                <a:cs typeface="+mn-lt"/>
              </a:rPr>
              <a:t>A Simple Solution</a:t>
            </a:r>
            <a:r>
              <a:rPr lang="en-US" sz="2000">
                <a:ea typeface="+mn-lt"/>
                <a:cs typeface="+mn-lt"/>
              </a:rPr>
              <a:t>: </a:t>
            </a:r>
          </a:p>
          <a:p>
            <a:pPr lvl="1"/>
            <a:r>
              <a:rPr lang="en-US" sz="1800">
                <a:ea typeface="+mn-lt"/>
                <a:cs typeface="+mn-lt"/>
              </a:rPr>
              <a:t>Her nurse introduces the new, intuitive tablet-based ordering system.</a:t>
            </a:r>
            <a:endParaRPr lang="en-US" sz="1800"/>
          </a:p>
          <a:p>
            <a:r>
              <a:rPr lang="en-US" sz="2000">
                <a:solidFill>
                  <a:srgbClr val="FF0000"/>
                </a:solidFill>
                <a:ea typeface="+mn-lt"/>
                <a:cs typeface="+mn-lt"/>
              </a:rPr>
              <a:t>Patient Empowerment</a:t>
            </a:r>
            <a:r>
              <a:rPr lang="en-US" sz="2000">
                <a:ea typeface="+mn-lt"/>
                <a:cs typeface="+mn-lt"/>
              </a:rPr>
              <a:t>: </a:t>
            </a:r>
          </a:p>
          <a:p>
            <a:pPr lvl="1"/>
            <a:r>
              <a:rPr lang="en-US" sz="1800">
                <a:ea typeface="+mn-lt"/>
                <a:cs typeface="+mn-lt"/>
              </a:rPr>
              <a:t>Mrs. Chen easily browses, selects, and customizes her own lunch for the next day </a:t>
            </a:r>
          </a:p>
          <a:p>
            <a:pPr lvl="1"/>
            <a:r>
              <a:rPr lang="en-US" sz="1800">
                <a:ea typeface="+mn-lt"/>
                <a:cs typeface="+mn-lt"/>
              </a:rPr>
              <a:t>E.g., Steamed Fish, with a 'low salt' note.</a:t>
            </a:r>
            <a:endParaRPr lang="en-US" sz="1800"/>
          </a:p>
        </p:txBody>
      </p:sp>
      <p:pic>
        <p:nvPicPr>
          <p:cNvPr id="4" name="圖片 3" descr="一張含有 室內, 人員, 服裝, 電腦 的圖片&#10;&#10;AI 產生的內容可能不正確。">
            <a:extLst>
              <a:ext uri="{FF2B5EF4-FFF2-40B4-BE49-F238E27FC236}">
                <a16:creationId xmlns:a16="http://schemas.microsoft.com/office/drawing/2014/main" id="{32C11CFC-287A-284D-B8B8-123CAE3801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51" b="-4"/>
          <a:stretch>
            <a:fillRect/>
          </a:stretch>
        </p:blipFill>
        <p:spPr>
          <a:xfrm>
            <a:off x="7927974" y="1831024"/>
            <a:ext cx="3941064" cy="404856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57BE63-0707-3F6D-7584-212B220AE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56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9B38E-5914-56F0-93B4-6DC9F150A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1FC75F9-BC96-DE2D-35C2-C87CE21E2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Scenarios &amp; Use Cases</a:t>
            </a:r>
            <a:br>
              <a:rPr lang="en-US" sz="3700"/>
            </a:br>
            <a:endParaRPr lang="en-US" altLang="zh-HK" sz="3700" b="0"/>
          </a:p>
        </p:txBody>
      </p:sp>
      <p:sp>
        <p:nvSpPr>
          <p:cNvPr id="18" name="Freeform: Shape 11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A87A53-0819-0454-E983-D35C7D0FD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926" y="1635777"/>
            <a:ext cx="7348437" cy="4887970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2400" b="1">
                <a:ea typeface="+mn-lt"/>
                <a:cs typeface="+mn-lt"/>
              </a:rPr>
              <a:t>Concrete Scenario - Patient Ordering Food &amp; Use Cases</a:t>
            </a:r>
            <a:endParaRPr lang="zh-TW" altLang="en-US" sz="2400" b="1"/>
          </a:p>
          <a:p>
            <a:pPr algn="just"/>
            <a:r>
              <a:rPr lang="en-US" sz="2400">
                <a:solidFill>
                  <a:srgbClr val="FF0000"/>
                </a:solidFill>
                <a:ea typeface="+mn-lt"/>
                <a:cs typeface="+mn-lt"/>
              </a:rPr>
              <a:t>Access &amp; Login</a:t>
            </a:r>
            <a:r>
              <a:rPr lang="en-US" sz="2400">
                <a:ea typeface="+mn-lt"/>
                <a:cs typeface="+mn-lt"/>
              </a:rPr>
              <a:t>: </a:t>
            </a:r>
          </a:p>
          <a:p>
            <a:pPr lvl="1" algn="just"/>
            <a:r>
              <a:rPr lang="en-US" sz="2100">
                <a:ea typeface="+mn-lt"/>
                <a:cs typeface="+mn-lt"/>
              </a:rPr>
              <a:t>Mrs. Chen opens the app on her bedside tablet and logs in securely.</a:t>
            </a:r>
            <a:endParaRPr lang="en-US" sz="2100" b="1">
              <a:ea typeface="+mn-lt"/>
              <a:cs typeface="+mn-lt"/>
            </a:endParaRPr>
          </a:p>
          <a:p>
            <a:pPr algn="just"/>
            <a:r>
              <a:rPr lang="en-US" sz="2400">
                <a:solidFill>
                  <a:srgbClr val="FF0000"/>
                </a:solidFill>
                <a:ea typeface="+mn-lt"/>
                <a:cs typeface="+mn-lt"/>
              </a:rPr>
              <a:t>Browse Menu</a:t>
            </a:r>
            <a:r>
              <a:rPr lang="en-US" sz="2400">
                <a:ea typeface="+mn-lt"/>
                <a:cs typeface="+mn-lt"/>
              </a:rPr>
              <a:t>: </a:t>
            </a:r>
          </a:p>
          <a:p>
            <a:pPr lvl="1" algn="just"/>
            <a:r>
              <a:rPr lang="en-US" sz="2100">
                <a:ea typeface="+mn-lt"/>
                <a:cs typeface="+mn-lt"/>
              </a:rPr>
              <a:t>She navigates to the "Lunch" category to view options.</a:t>
            </a:r>
          </a:p>
          <a:p>
            <a:pPr algn="just"/>
            <a:r>
              <a:rPr lang="en-US" sz="2400">
                <a:solidFill>
                  <a:srgbClr val="FF0000"/>
                </a:solidFill>
                <a:ea typeface="+mn-lt"/>
                <a:cs typeface="+mn-lt"/>
              </a:rPr>
              <a:t>Select Items</a:t>
            </a:r>
            <a:r>
              <a:rPr lang="en-US" sz="2400">
                <a:ea typeface="+mn-lt"/>
                <a:cs typeface="+mn-lt"/>
              </a:rPr>
              <a:t>: </a:t>
            </a:r>
          </a:p>
          <a:p>
            <a:pPr lvl="1" algn="just"/>
            <a:r>
              <a:rPr lang="en-US" sz="2100">
                <a:ea typeface="+mn-lt"/>
                <a:cs typeface="+mn-lt"/>
              </a:rPr>
              <a:t>She adds "Steamed Fish" and “Vegetable Soup" to her digital cart.</a:t>
            </a:r>
          </a:p>
          <a:p>
            <a:pPr algn="just"/>
            <a:r>
              <a:rPr lang="en-US" sz="2400">
                <a:solidFill>
                  <a:srgbClr val="FF0000"/>
                </a:solidFill>
                <a:ea typeface="+mn-lt"/>
                <a:cs typeface="+mn-lt"/>
              </a:rPr>
              <a:t>Confirm Details</a:t>
            </a:r>
            <a:r>
              <a:rPr lang="en-US" sz="2400">
                <a:ea typeface="+mn-lt"/>
                <a:cs typeface="+mn-lt"/>
              </a:rPr>
              <a:t>: </a:t>
            </a:r>
          </a:p>
          <a:p>
            <a:pPr lvl="1" algn="just"/>
            <a:r>
              <a:rPr lang="en-US" sz="2100">
                <a:ea typeface="+mn-lt"/>
                <a:cs typeface="+mn-lt"/>
              </a:rPr>
              <a:t>In the cart, she sets delivery for "Tomorrow" and specifies "Low salt."</a:t>
            </a:r>
            <a:endParaRPr lang="en-US" sz="2100"/>
          </a:p>
          <a:p>
            <a:pPr algn="just"/>
            <a:r>
              <a:rPr lang="en-US" sz="2400">
                <a:solidFill>
                  <a:srgbClr val="FF0000"/>
                </a:solidFill>
                <a:ea typeface="+mn-lt"/>
                <a:cs typeface="+mn-lt"/>
              </a:rPr>
              <a:t>Submit Order</a:t>
            </a:r>
            <a:r>
              <a:rPr lang="en-US" sz="2400">
                <a:ea typeface="+mn-lt"/>
                <a:cs typeface="+mn-lt"/>
              </a:rPr>
              <a:t>: </a:t>
            </a:r>
          </a:p>
          <a:p>
            <a:pPr lvl="1" algn="just"/>
            <a:r>
              <a:rPr lang="en-US" sz="2100">
                <a:ea typeface="+mn-lt"/>
                <a:cs typeface="+mn-lt"/>
              </a:rPr>
              <a:t>She clicks "Submit" and receives immediate visual confirmation.</a:t>
            </a:r>
            <a:endParaRPr lang="en-US" sz="2100"/>
          </a:p>
          <a:p>
            <a:pPr marL="457200" indent="-457200">
              <a:buAutoNum type="arabicPeriod"/>
            </a:pPr>
            <a:endParaRPr lang="en-US"/>
          </a:p>
        </p:txBody>
      </p:sp>
      <p:pic>
        <p:nvPicPr>
          <p:cNvPr id="5" name="圖片 4" descr="一張含有 人員, 室內, 筆記型電腦, 牆 的圖片&#10;&#10;AI 產生的內容可能不正確。">
            <a:extLst>
              <a:ext uri="{FF2B5EF4-FFF2-40B4-BE49-F238E27FC236}">
                <a16:creationId xmlns:a16="http://schemas.microsoft.com/office/drawing/2014/main" id="{32ADC291-9EA2-8FED-785E-89657446CA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5" r="-4" b="-4"/>
          <a:stretch>
            <a:fillRect/>
          </a:stretch>
        </p:blipFill>
        <p:spPr>
          <a:xfrm>
            <a:off x="7991856" y="1727212"/>
            <a:ext cx="3941064" cy="404856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E55FF-D4F0-193D-4918-3C60D5CC2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88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99FD9-477B-D5E7-E612-B0348596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DC7869-46C2-299E-AE41-3AA123672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813816"/>
            <a:ext cx="11155680" cy="1463040"/>
          </a:xfrm>
        </p:spPr>
        <p:txBody>
          <a:bodyPr>
            <a:normAutofit/>
          </a:bodyPr>
          <a:lstStyle/>
          <a:p>
            <a:r>
              <a:rPr lang="en-US"/>
              <a:t>User Stories, Scenarios &amp; Use Cases</a:t>
            </a:r>
            <a:br>
              <a:rPr lang="en-US"/>
            </a:br>
            <a:endParaRPr lang="en-US" altLang="zh-HK" b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3C577E-F2D7-16FF-961C-EE9CD00F7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312" y="1645920"/>
            <a:ext cx="11155680" cy="5312664"/>
          </a:xfrm>
        </p:spPr>
        <p:txBody>
          <a:bodyPr>
            <a:normAutofit/>
          </a:bodyPr>
          <a:lstStyle/>
          <a:p>
            <a:pPr>
              <a:buClr>
                <a:srgbClr val="000000"/>
              </a:buClr>
            </a:pPr>
            <a:r>
              <a:rPr lang="en-US" altLang="zh-HK" sz="2000" b="1"/>
              <a:t>User stories: </a:t>
            </a:r>
          </a:p>
          <a:p>
            <a:pPr lvl="1">
              <a:buClr>
                <a:srgbClr val="000000"/>
              </a:buClr>
            </a:pPr>
            <a:r>
              <a:rPr lang="en-US" altLang="zh-HK" sz="1800"/>
              <a:t>A Patient want to order his lunch from the canteen of the hospital</a:t>
            </a:r>
          </a:p>
          <a:p>
            <a:pPr lvl="2">
              <a:buClr>
                <a:srgbClr val="000000"/>
              </a:buClr>
            </a:pPr>
            <a:r>
              <a:rPr lang="en-US" altLang="zh-HK" sz="1600"/>
              <a:t>Filter some food to avoid uncomfortable.</a:t>
            </a:r>
          </a:p>
          <a:p>
            <a:pPr lvl="1">
              <a:buClr>
                <a:srgbClr val="000000"/>
              </a:buClr>
            </a:pPr>
            <a:r>
              <a:rPr lang="en-US" altLang="zh-HK" sz="1800"/>
              <a:t>A Nurse can order food and pick up at the canteen for saving their time when emergency.</a:t>
            </a:r>
          </a:p>
          <a:p>
            <a:pPr>
              <a:buClr>
                <a:srgbClr val="000000"/>
              </a:buClr>
            </a:pPr>
            <a:r>
              <a:rPr lang="en-US" altLang="zh-HK" sz="2000" b="1"/>
              <a:t>User Scenarios:</a:t>
            </a:r>
          </a:p>
          <a:p>
            <a:pPr lvl="1">
              <a:buClr>
                <a:srgbClr val="000000"/>
              </a:buClr>
            </a:pPr>
            <a:r>
              <a:rPr lang="en-US" altLang="zh-HK" sz="1800"/>
              <a:t>Patient chooses a suitable meal:</a:t>
            </a:r>
          </a:p>
          <a:p>
            <a:pPr lvl="1">
              <a:buClr>
                <a:srgbClr val="000000"/>
              </a:buClr>
            </a:pPr>
            <a:r>
              <a:rPr lang="en-US" altLang="zh-HK" sz="1800"/>
              <a:t>Patient can enter their dietary restrictions</a:t>
            </a:r>
          </a:p>
          <a:p>
            <a:pPr lvl="2">
              <a:buClr>
                <a:srgbClr val="000000"/>
              </a:buClr>
            </a:pPr>
            <a:r>
              <a:rPr lang="en-US" altLang="zh-HK" sz="1600"/>
              <a:t>The system helps prevent unsuitable food choices by showing clear meal details and availability.</a:t>
            </a:r>
          </a:p>
          <a:p>
            <a:pPr lvl="1">
              <a:buClr>
                <a:srgbClr val="000000"/>
              </a:buClr>
            </a:pPr>
            <a:r>
              <a:rPr lang="en-US" altLang="zh-HK" sz="1800"/>
              <a:t>The patient selects a meal, reviews the order, and submits it.</a:t>
            </a:r>
          </a:p>
          <a:p>
            <a:pPr>
              <a:buClr>
                <a:srgbClr val="000000"/>
              </a:buClr>
            </a:pPr>
            <a:r>
              <a:rPr lang="en-US" altLang="zh-HK" sz="2000" b="1"/>
              <a:t>User Cases:</a:t>
            </a:r>
            <a:r>
              <a:rPr lang="en-US" altLang="zh-HK" sz="2000"/>
              <a:t>	</a:t>
            </a:r>
          </a:p>
          <a:p>
            <a:pPr lvl="1">
              <a:buClr>
                <a:srgbClr val="000000"/>
              </a:buClr>
            </a:pPr>
            <a:r>
              <a:rPr lang="en-US" altLang="zh-HK" sz="1800"/>
              <a:t>Patient browse available menu items, customize orders, and request bedside delivery or pickup.</a:t>
            </a:r>
          </a:p>
          <a:p>
            <a:pPr lvl="1">
              <a:buClr>
                <a:srgbClr val="000000"/>
              </a:buClr>
            </a:pPr>
            <a:r>
              <a:rPr lang="en-US" altLang="zh-HK" sz="1800"/>
              <a:t>Hospital Employee order food via a staff portal and pay seamlessly using an ID badge or payroll deduction integration.</a:t>
            </a:r>
            <a:endParaRPr kumimoji="1" lang="zh-HK" alt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100DB-A203-6055-0E27-D3C25F3A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56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7DD8D9-A88F-4474-F0E0-2D6BA4E04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49623"/>
            <a:ext cx="11155680" cy="1463040"/>
          </a:xfrm>
        </p:spPr>
        <p:txBody>
          <a:bodyPr>
            <a:normAutofit fontScale="90000"/>
          </a:bodyPr>
          <a:lstStyle/>
          <a:p>
            <a:r>
              <a:rPr lang="en-US" altLang="zh-HK"/>
              <a:t>Requirements - </a:t>
            </a:r>
            <a:r>
              <a:rPr kumimoji="1" lang="en-US" altLang="zh-HK"/>
              <a:t>Functional</a:t>
            </a:r>
            <a:br>
              <a:rPr kumimoji="1" lang="en-US" altLang="zh-HK"/>
            </a:br>
            <a:br>
              <a:rPr lang="en-US" altLang="zh-HK"/>
            </a:br>
            <a:endParaRPr kumimoji="1"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9A9E0E-DE9D-0DC1-82F8-5576B376B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810882"/>
            <a:ext cx="6293192" cy="429749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/>
              <a:t>Authentication:</a:t>
            </a:r>
          </a:p>
          <a:p>
            <a:pPr lvl="1"/>
            <a:r>
              <a:rPr lang="en-US" sz="2000"/>
              <a:t>Users can log into the system using their ID and password.</a:t>
            </a:r>
          </a:p>
          <a:p>
            <a:r>
              <a:rPr lang="en-US" sz="2000" b="1"/>
              <a:t>Menu &amp; Ordering:</a:t>
            </a:r>
          </a:p>
          <a:p>
            <a:pPr lvl="1"/>
            <a:r>
              <a:rPr lang="en-US" sz="2000"/>
              <a:t>Add multiple food items to a shopping cart.</a:t>
            </a:r>
          </a:p>
          <a:p>
            <a:pPr lvl="1"/>
            <a:r>
              <a:rPr lang="en-US" sz="2000"/>
              <a:t>View the contents of the shopping cart before purchase.</a:t>
            </a:r>
          </a:p>
          <a:p>
            <a:pPr lvl="1"/>
            <a:r>
              <a:rPr lang="en-US" sz="2000"/>
              <a:t>Specify a delivery day for the order.</a:t>
            </a:r>
          </a:p>
          <a:p>
            <a:pPr lvl="1"/>
            <a:r>
              <a:rPr lang="en-US" sz="2000"/>
              <a:t>Enter specific dietary requirements (e.g., "Low salt") for an order.</a:t>
            </a:r>
            <a:endParaRPr lang="zh-HK" altLang="en-US" sz="200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C61CBE7-9095-B3C4-6A44-209A94180D9A}"/>
              </a:ext>
            </a:extLst>
          </p:cNvPr>
          <p:cNvSpPr txBox="1"/>
          <p:nvPr/>
        </p:nvSpPr>
        <p:spPr>
          <a:xfrm>
            <a:off x="6634965" y="1810882"/>
            <a:ext cx="5035827" cy="14284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b="1"/>
              <a:t>Order Confirmation: </a:t>
            </a:r>
            <a:endParaRPr lang="en-US" altLang="zh-TW" sz="2000" b="1"/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/>
              <a:t>Submit the final order to the system. </a:t>
            </a:r>
            <a:endParaRPr lang="en-US" altLang="zh-TW" sz="2000"/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/>
              <a:t>Receive an immediate confirmation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E350E-786A-8DC2-F0AE-61DB2814F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35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2666F-A9A5-1396-29D8-C06E978BF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44728"/>
            <a:ext cx="11155680" cy="1463040"/>
          </a:xfrm>
        </p:spPr>
        <p:txBody>
          <a:bodyPr>
            <a:normAutofit/>
          </a:bodyPr>
          <a:lstStyle/>
          <a:p>
            <a:r>
              <a:rPr lang="en-US" altLang="zh-HK" sz="4000"/>
              <a:t>Requirements - </a:t>
            </a:r>
            <a:r>
              <a:rPr kumimoji="1" lang="en-US" altLang="zh-HK" sz="4000"/>
              <a:t>Functional</a:t>
            </a:r>
            <a:endParaRPr lang="zh-HK" altLang="en-US" sz="400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731F07-85D6-2603-F5C2-E2583C235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810512"/>
            <a:ext cx="5437632" cy="48097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HK" sz="2000" b="1">
                <a:ea typeface="+mn-lt"/>
                <a:cs typeface="+mn-lt"/>
              </a:rPr>
              <a:t>For the Canteen Staff:</a:t>
            </a:r>
            <a:endParaRPr lang="zh-HK" altLang="en-US" sz="2000" b="1"/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HK" sz="2000">
                <a:ea typeface="+mn-lt"/>
                <a:cs typeface="+mn-lt"/>
              </a:rPr>
              <a:t>Order</a:t>
            </a:r>
            <a:r>
              <a:rPr lang="zh-HK" altLang="en-US" sz="2000">
                <a:ea typeface="+mn-lt"/>
                <a:cs typeface="+mn-lt"/>
              </a:rPr>
              <a:t> </a:t>
            </a:r>
            <a:r>
              <a:rPr lang="en-US" altLang="zh-HK" sz="2000">
                <a:ea typeface="+mn-lt"/>
                <a:cs typeface="+mn-lt"/>
              </a:rPr>
              <a:t>Management:</a:t>
            </a:r>
            <a:endParaRPr lang="zh-HK" sz="2000">
              <a:ea typeface="+mn-lt"/>
              <a:cs typeface="+mn-lt"/>
            </a:endParaRPr>
          </a:p>
          <a:p>
            <a:pPr lvl="2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zh-HK" sz="1800">
                <a:ea typeface="+mn-lt"/>
                <a:cs typeface="+mn-lt"/>
              </a:rPr>
              <a:t>View a live dashboard of all incoming patient orders</a:t>
            </a:r>
            <a:endParaRPr lang="zh-HK" sz="1800"/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zh-HK" sz="2000">
                <a:ea typeface="+mn-lt"/>
                <a:cs typeface="+mn-lt"/>
              </a:rPr>
              <a:t>See key details for each order: </a:t>
            </a:r>
            <a:endParaRPr lang="en-US" altLang="zh-HK" sz="2000">
              <a:ea typeface="+mn-lt"/>
              <a:cs typeface="+mn-lt"/>
            </a:endParaRPr>
          </a:p>
          <a:p>
            <a:pPr lvl="2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zh-HK" sz="1800">
                <a:ea typeface="+mn-lt"/>
                <a:cs typeface="+mn-lt"/>
              </a:rPr>
              <a:t>Order ID patient name, items ordered, and dietary needs</a:t>
            </a:r>
            <a:endParaRPr lang="zh-HK" sz="1800"/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zh-HK" sz="2000">
                <a:ea typeface="+mn-lt"/>
                <a:cs typeface="+mn-lt"/>
              </a:rPr>
              <a:t>Update the status of an order </a:t>
            </a:r>
            <a:endParaRPr lang="en-US" altLang="zh-HK" sz="2000">
              <a:ea typeface="+mn-lt"/>
              <a:cs typeface="+mn-lt"/>
            </a:endParaRPr>
          </a:p>
          <a:p>
            <a:pPr lvl="2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altLang="zh-HK" sz="1800">
                <a:ea typeface="+mn-lt"/>
                <a:cs typeface="+mn-lt"/>
              </a:rPr>
              <a:t>E</a:t>
            </a:r>
            <a:r>
              <a:rPr lang="zh-HK" sz="1800">
                <a:ea typeface="+mn-lt"/>
                <a:cs typeface="+mn-lt"/>
              </a:rPr>
              <a:t>.g., from "Pending" to "Preparing" or "Completed"</a:t>
            </a:r>
            <a:endParaRPr lang="zh-HK" sz="180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2651575-4397-995F-CEA1-3F3ACF0E1F0C}"/>
              </a:ext>
            </a:extLst>
          </p:cNvPr>
          <p:cNvSpPr txBox="1"/>
          <p:nvPr/>
        </p:nvSpPr>
        <p:spPr>
          <a:xfrm>
            <a:off x="5567172" y="1748167"/>
            <a:ext cx="6275832" cy="23517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b="1"/>
              <a:t>Menu Control: </a:t>
            </a:r>
            <a:endParaRPr lang="en-US" altLang="zh-TW" sz="2000" b="1"/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/>
              <a:t>Add new food items to the menu 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/>
              <a:t>Update the price of existing menu items. </a:t>
            </a:r>
            <a:endParaRPr lang="en-US" altLang="zh-TW" sz="2000"/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/>
              <a:t>Delete food items from the menu entirely</a:t>
            </a:r>
          </a:p>
          <a:p>
            <a:pPr lvl="1">
              <a:lnSpc>
                <a:spcPct val="150000"/>
              </a:lnSpc>
            </a:pPr>
            <a:endParaRPr lang="en-US" sz="2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0D92B-A6C9-2F0B-41B8-F1D9D43B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18</a:t>
            </a:fld>
            <a:endParaRPr lang="en-US"/>
          </a:p>
        </p:txBody>
      </p:sp>
      <p:pic>
        <p:nvPicPr>
          <p:cNvPr id="1026" name="Picture 2" descr="NEW ADDITION TO OUR MENU – Always made with authentic Mexican Vanilla—  here's everything NEW you've been craving: COOKIES 🍪 M&amp;M Cookies 🍪  Biscoff Cookies 🍪 Churro Cheesecake Cookies 🍪 Chocolate Abuelita">
            <a:extLst>
              <a:ext uri="{FF2B5EF4-FFF2-40B4-BE49-F238E27FC236}">
                <a16:creationId xmlns:a16="http://schemas.microsoft.com/office/drawing/2014/main" id="{FECAC6B9-6EAD-345B-BA20-5CEC2ABF2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6384" y="3950815"/>
            <a:ext cx="198120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32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508D81-705E-9136-4762-701AE28F9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711" y="704941"/>
            <a:ext cx="11155680" cy="1463040"/>
          </a:xfrm>
        </p:spPr>
        <p:txBody>
          <a:bodyPr>
            <a:normAutofit fontScale="90000"/>
          </a:bodyPr>
          <a:lstStyle/>
          <a:p>
            <a:r>
              <a:rPr lang="en-US" altLang="zh-HK"/>
              <a:t>Requirements - </a:t>
            </a:r>
            <a:r>
              <a:rPr kumimoji="1" lang="en-US" altLang="zh-HK"/>
              <a:t>Functional </a:t>
            </a:r>
            <a:br>
              <a:rPr kumimoji="1" lang="en-US" altLang="zh-HK"/>
            </a:br>
            <a:r>
              <a:rPr lang="en-US" altLang="zh-HK"/>
              <a:t>Authentication</a:t>
            </a:r>
            <a:br>
              <a:rPr lang="en-US" altLang="zh-HK"/>
            </a:br>
            <a:endParaRPr lang="zh-HK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822AAC0-49EF-4B5C-940E-37C2AA6D30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6488" y="1920657"/>
            <a:ext cx="7090801" cy="370708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BF6B5BF1-4F73-DD7F-7F38-B9ED022C82A1}"/>
              </a:ext>
            </a:extLst>
          </p:cNvPr>
          <p:cNvSpPr txBox="1"/>
          <p:nvPr/>
        </p:nvSpPr>
        <p:spPr>
          <a:xfrm>
            <a:off x="0" y="2364318"/>
            <a:ext cx="4616978" cy="2125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HK"/>
              <a:t>Users can choose their logic types and log into the system using their ID and provided password.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HK"/>
              <a:t>Users account saved in their browser cookie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C3BCD9-9B27-CAD3-22A5-2170D702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66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6">
            <a:extLst>
              <a:ext uri="{FF2B5EF4-FFF2-40B4-BE49-F238E27FC236}">
                <a16:creationId xmlns:a16="http://schemas.microsoft.com/office/drawing/2014/main" id="{30E3E27E-6B82-2453-8614-788CFD76C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367" y="256377"/>
            <a:ext cx="8693327" cy="6195918"/>
          </a:xfrm>
          <a:prstGeom prst="rect">
            <a:avLst/>
          </a:prstGeom>
        </p:spPr>
      </p:pic>
      <p:cxnSp>
        <p:nvCxnSpPr>
          <p:cNvPr id="3" name="直線單箭頭接點 20">
            <a:extLst>
              <a:ext uri="{FF2B5EF4-FFF2-40B4-BE49-F238E27FC236}">
                <a16:creationId xmlns:a16="http://schemas.microsoft.com/office/drawing/2014/main" id="{4CAFBBB2-B496-F650-642B-D67A67BB57F1}"/>
              </a:ext>
            </a:extLst>
          </p:cNvPr>
          <p:cNvCxnSpPr>
            <a:cxnSpLocks/>
          </p:cNvCxnSpPr>
          <p:nvPr/>
        </p:nvCxnSpPr>
        <p:spPr>
          <a:xfrm flipH="1">
            <a:off x="3944297" y="1752070"/>
            <a:ext cx="1224364" cy="122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單箭頭接點 21">
            <a:extLst>
              <a:ext uri="{FF2B5EF4-FFF2-40B4-BE49-F238E27FC236}">
                <a16:creationId xmlns:a16="http://schemas.microsoft.com/office/drawing/2014/main" id="{D0DED0A7-4EC9-D364-0F1B-5A51196ACB67}"/>
              </a:ext>
            </a:extLst>
          </p:cNvPr>
          <p:cNvCxnSpPr>
            <a:cxnSpLocks/>
          </p:cNvCxnSpPr>
          <p:nvPr/>
        </p:nvCxnSpPr>
        <p:spPr>
          <a:xfrm flipH="1">
            <a:off x="3944298" y="1752070"/>
            <a:ext cx="1224363" cy="635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22">
            <a:extLst>
              <a:ext uri="{FF2B5EF4-FFF2-40B4-BE49-F238E27FC236}">
                <a16:creationId xmlns:a16="http://schemas.microsoft.com/office/drawing/2014/main" id="{AB995D89-A142-4155-95DD-CEDE9BCA9491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957603" y="1827560"/>
            <a:ext cx="1211059" cy="10062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矩形: 圓角 28">
            <a:extLst>
              <a:ext uri="{FF2B5EF4-FFF2-40B4-BE49-F238E27FC236}">
                <a16:creationId xmlns:a16="http://schemas.microsoft.com/office/drawing/2014/main" id="{366FCC89-A921-4481-0429-D0DE152EFD4A}"/>
              </a:ext>
            </a:extLst>
          </p:cNvPr>
          <p:cNvSpPr/>
          <p:nvPr/>
        </p:nvSpPr>
        <p:spPr>
          <a:xfrm>
            <a:off x="5168662" y="1326602"/>
            <a:ext cx="2329418" cy="1001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>
                <a:solidFill>
                  <a:schemeClr val="tx1"/>
                </a:solidFill>
              </a:rPr>
              <a:t>Add multiple food items to a shopping cart.</a:t>
            </a:r>
          </a:p>
        </p:txBody>
      </p:sp>
      <p:sp>
        <p:nvSpPr>
          <p:cNvPr id="7" name="矩形: 圓角 31">
            <a:extLst>
              <a:ext uri="{FF2B5EF4-FFF2-40B4-BE49-F238E27FC236}">
                <a16:creationId xmlns:a16="http://schemas.microsoft.com/office/drawing/2014/main" id="{61BDCDE2-BD01-F7BC-EBD2-FC056EC994DF}"/>
              </a:ext>
            </a:extLst>
          </p:cNvPr>
          <p:cNvSpPr/>
          <p:nvPr/>
        </p:nvSpPr>
        <p:spPr>
          <a:xfrm>
            <a:off x="5168660" y="2424613"/>
            <a:ext cx="2712123" cy="9708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>
                <a:solidFill>
                  <a:schemeClr val="tx1"/>
                </a:solidFill>
              </a:rPr>
              <a:t>View the contents of the shopping cart before purchase.</a:t>
            </a:r>
          </a:p>
        </p:txBody>
      </p:sp>
      <p:cxnSp>
        <p:nvCxnSpPr>
          <p:cNvPr id="8" name="直線單箭頭接點 33">
            <a:extLst>
              <a:ext uri="{FF2B5EF4-FFF2-40B4-BE49-F238E27FC236}">
                <a16:creationId xmlns:a16="http://schemas.microsoft.com/office/drawing/2014/main" id="{6B832AA8-1126-BD19-95FD-1A1A74DB2E64}"/>
              </a:ext>
            </a:extLst>
          </p:cNvPr>
          <p:cNvCxnSpPr>
            <a:cxnSpLocks/>
          </p:cNvCxnSpPr>
          <p:nvPr/>
        </p:nvCxnSpPr>
        <p:spPr>
          <a:xfrm flipH="1">
            <a:off x="3944297" y="2878426"/>
            <a:ext cx="1211059" cy="1157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: 圓角 36">
            <a:extLst>
              <a:ext uri="{FF2B5EF4-FFF2-40B4-BE49-F238E27FC236}">
                <a16:creationId xmlns:a16="http://schemas.microsoft.com/office/drawing/2014/main" id="{9B309B12-2ACB-33C1-118D-7781406BED4C}"/>
              </a:ext>
            </a:extLst>
          </p:cNvPr>
          <p:cNvSpPr/>
          <p:nvPr/>
        </p:nvSpPr>
        <p:spPr>
          <a:xfrm>
            <a:off x="5168662" y="219087"/>
            <a:ext cx="2329418" cy="7045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>
                <a:solidFill>
                  <a:schemeClr val="tx1"/>
                </a:solidFill>
              </a:rPr>
              <a:t>Specify a delivery day for the order</a:t>
            </a:r>
            <a:endParaRPr lang="zh-HK" altLang="en-US">
              <a:solidFill>
                <a:schemeClr val="tx1"/>
              </a:solidFill>
            </a:endParaRPr>
          </a:p>
        </p:txBody>
      </p:sp>
      <p:cxnSp>
        <p:nvCxnSpPr>
          <p:cNvPr id="10" name="直線單箭頭接點 38">
            <a:extLst>
              <a:ext uri="{FF2B5EF4-FFF2-40B4-BE49-F238E27FC236}">
                <a16:creationId xmlns:a16="http://schemas.microsoft.com/office/drawing/2014/main" id="{1A17BD14-291E-6D85-9291-14139DE300BE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3482479" y="571376"/>
            <a:ext cx="168618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矩形: 圓角 7">
            <a:extLst>
              <a:ext uri="{FF2B5EF4-FFF2-40B4-BE49-F238E27FC236}">
                <a16:creationId xmlns:a16="http://schemas.microsoft.com/office/drawing/2014/main" id="{54AE0B03-D6CC-2F6D-5F21-F425E2024810}"/>
              </a:ext>
            </a:extLst>
          </p:cNvPr>
          <p:cNvSpPr/>
          <p:nvPr/>
        </p:nvSpPr>
        <p:spPr>
          <a:xfrm>
            <a:off x="5155356" y="5591111"/>
            <a:ext cx="2725428" cy="12003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HK">
                <a:solidFill>
                  <a:schemeClr val="tx1"/>
                </a:solidFill>
              </a:rPr>
              <a:t>Enter specific dietary requirements (e.g., "Low salt") for an order.</a:t>
            </a:r>
            <a:endParaRPr lang="zh-HK" altLang="en-US">
              <a:solidFill>
                <a:schemeClr val="tx1"/>
              </a:solidFill>
            </a:endParaRPr>
          </a:p>
        </p:txBody>
      </p:sp>
      <p:cxnSp>
        <p:nvCxnSpPr>
          <p:cNvPr id="12" name="直線單箭頭接點 42">
            <a:extLst>
              <a:ext uri="{FF2B5EF4-FFF2-40B4-BE49-F238E27FC236}">
                <a16:creationId xmlns:a16="http://schemas.microsoft.com/office/drawing/2014/main" id="{1F8FE825-EC75-855B-36B2-597BFC37EE82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3879642" y="5907024"/>
            <a:ext cx="1275714" cy="284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: 圓角 17">
            <a:extLst>
              <a:ext uri="{FF2B5EF4-FFF2-40B4-BE49-F238E27FC236}">
                <a16:creationId xmlns:a16="http://schemas.microsoft.com/office/drawing/2014/main" id="{C892A183-9CC6-A87F-FD8B-78791AB54FD3}"/>
              </a:ext>
            </a:extLst>
          </p:cNvPr>
          <p:cNvSpPr/>
          <p:nvPr/>
        </p:nvSpPr>
        <p:spPr>
          <a:xfrm>
            <a:off x="5178443" y="3500874"/>
            <a:ext cx="2319637" cy="6401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>
                <a:solidFill>
                  <a:schemeClr val="tx1"/>
                </a:solidFill>
              </a:rPr>
              <a:t>Choose Delivery or Pickup</a:t>
            </a:r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14" name="矩形: 圓角 18">
            <a:extLst>
              <a:ext uri="{FF2B5EF4-FFF2-40B4-BE49-F238E27FC236}">
                <a16:creationId xmlns:a16="http://schemas.microsoft.com/office/drawing/2014/main" id="{3EAADE19-A81F-F775-BAF1-73CFB12A742B}"/>
              </a:ext>
            </a:extLst>
          </p:cNvPr>
          <p:cNvSpPr/>
          <p:nvPr/>
        </p:nvSpPr>
        <p:spPr>
          <a:xfrm>
            <a:off x="5155356" y="4461027"/>
            <a:ext cx="2725428" cy="9708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>
                <a:solidFill>
                  <a:schemeClr val="tx1"/>
                </a:solidFill>
              </a:rPr>
              <a:t>Delivery Details</a:t>
            </a:r>
          </a:p>
          <a:p>
            <a:pPr algn="ctr"/>
            <a:r>
              <a:rPr lang="en-US" altLang="zh-HK">
                <a:solidFill>
                  <a:schemeClr val="tx1"/>
                </a:solidFill>
              </a:rPr>
              <a:t>Such as bed number or department number</a:t>
            </a:r>
            <a:endParaRPr lang="zh-HK" altLang="en-US">
              <a:solidFill>
                <a:schemeClr val="tx1"/>
              </a:solidFill>
            </a:endParaRPr>
          </a:p>
        </p:txBody>
      </p:sp>
      <p:cxnSp>
        <p:nvCxnSpPr>
          <p:cNvPr id="15" name="直線單箭頭接點 46">
            <a:extLst>
              <a:ext uri="{FF2B5EF4-FFF2-40B4-BE49-F238E27FC236}">
                <a16:creationId xmlns:a16="http://schemas.microsoft.com/office/drawing/2014/main" id="{119BDAEF-4638-CDBF-80B3-7472D429080B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3417824" y="3820925"/>
            <a:ext cx="1760619" cy="704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47">
            <a:extLst>
              <a:ext uri="{FF2B5EF4-FFF2-40B4-BE49-F238E27FC236}">
                <a16:creationId xmlns:a16="http://schemas.microsoft.com/office/drawing/2014/main" id="{EEB5FDFD-E882-F8A6-EF4F-68F5AACDD0D4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3593315" y="4946449"/>
            <a:ext cx="1562041" cy="1551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73DEC7-B6C9-B551-7166-489807058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20</a:t>
            </a:fld>
            <a:endParaRPr 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178C5A8-95DA-01A4-721F-9BD0145A0FF8}"/>
              </a:ext>
            </a:extLst>
          </p:cNvPr>
          <p:cNvSpPr txBox="1"/>
          <p:nvPr/>
        </p:nvSpPr>
        <p:spPr>
          <a:xfrm>
            <a:off x="63386" y="562804"/>
            <a:ext cx="267512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800" b="1"/>
              <a:t>Requirements - </a:t>
            </a:r>
            <a:r>
              <a:rPr kumimoji="1" lang="en-US" altLang="zh-HK" sz="2800" b="1"/>
              <a:t>Functional </a:t>
            </a:r>
            <a:br>
              <a:rPr kumimoji="1" lang="en-US" altLang="zh-HK" sz="2800"/>
            </a:br>
            <a:r>
              <a:rPr lang="en-US" altLang="zh-HK" sz="2800" b="1"/>
              <a:t>Menu &amp; Ordering</a:t>
            </a:r>
            <a:endParaRPr lang="zh-HK" altLang="en-US" sz="2800"/>
          </a:p>
        </p:txBody>
      </p:sp>
    </p:spTree>
    <p:extLst>
      <p:ext uri="{BB962C8B-B14F-4D97-AF65-F5344CB8AC3E}">
        <p14:creationId xmlns:p14="http://schemas.microsoft.com/office/powerpoint/2010/main" val="2922725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07FC5E9-24CB-9E3A-5F71-974D333D8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21</a:t>
            </a:fld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C2997D0-591F-2A2E-96B0-D26A4E549CCD}"/>
              </a:ext>
            </a:extLst>
          </p:cNvPr>
          <p:cNvSpPr txBox="1"/>
          <p:nvPr/>
        </p:nvSpPr>
        <p:spPr>
          <a:xfrm>
            <a:off x="387926" y="501134"/>
            <a:ext cx="978130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3200" b="1"/>
              <a:t>Requirements - </a:t>
            </a:r>
            <a:r>
              <a:rPr kumimoji="1" lang="en-US" altLang="zh-HK" sz="3200" b="1"/>
              <a:t>Functional </a:t>
            </a:r>
          </a:p>
          <a:p>
            <a:r>
              <a:rPr lang="en-US" altLang="zh-HK" sz="3200" b="1"/>
              <a:t>Order Confirmation</a:t>
            </a:r>
            <a:endParaRPr lang="zh-HK" altLang="en-US" sz="320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3066774-85CC-ED60-7E7C-E438B3E7D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995" y="1839981"/>
            <a:ext cx="4372585" cy="140989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703E449-76EB-249D-0D0D-F5936100D0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1127"/>
          <a:stretch>
            <a:fillRect/>
          </a:stretch>
        </p:blipFill>
        <p:spPr>
          <a:xfrm>
            <a:off x="387926" y="3846065"/>
            <a:ext cx="11650701" cy="886126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92963F80-338E-36E3-7E0F-418FC4522C7E}"/>
              </a:ext>
            </a:extLst>
          </p:cNvPr>
          <p:cNvSpPr txBox="1"/>
          <p:nvPr/>
        </p:nvSpPr>
        <p:spPr>
          <a:xfrm>
            <a:off x="1271575" y="4793673"/>
            <a:ext cx="6097604" cy="463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altLang="zh-HK" sz="1800"/>
              <a:t>Submit the final order to the system</a:t>
            </a:r>
            <a:endParaRPr lang="en-US" altLang="zh-TW" sz="180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7EA52C8-1311-5B58-A487-76099F6658A9}"/>
              </a:ext>
            </a:extLst>
          </p:cNvPr>
          <p:cNvSpPr txBox="1"/>
          <p:nvPr/>
        </p:nvSpPr>
        <p:spPr>
          <a:xfrm>
            <a:off x="5200049" y="2189910"/>
            <a:ext cx="6096000" cy="463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altLang="zh-HK" sz="1800"/>
              <a:t>Receive an immediate confirmation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9080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7EFAAB5-34A3-C2FC-70BA-7720CC8A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DA6D2D7-E291-19B1-F3DF-89304763C60C}"/>
              </a:ext>
            </a:extLst>
          </p:cNvPr>
          <p:cNvSpPr txBox="1"/>
          <p:nvPr/>
        </p:nvSpPr>
        <p:spPr>
          <a:xfrm>
            <a:off x="490123" y="712288"/>
            <a:ext cx="7263804" cy="10082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HK" sz="3200" b="1">
                <a:latin typeface="+mj-lt"/>
                <a:ea typeface="+mj-ea"/>
                <a:cs typeface="+mj-cs"/>
              </a:rPr>
              <a:t>Requirements – </a:t>
            </a:r>
            <a:r>
              <a:rPr kumimoji="1" lang="en-US" altLang="zh-HK" sz="3200" b="1">
                <a:latin typeface="+mj-lt"/>
                <a:ea typeface="+mj-ea"/>
                <a:cs typeface="+mj-cs"/>
              </a:rPr>
              <a:t>Functional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HK" sz="3200" b="1">
                <a:latin typeface="+mj-lt"/>
                <a:ea typeface="+mj-ea"/>
                <a:cs typeface="+mj-cs"/>
              </a:rPr>
              <a:t>For the Canteen Staff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DD57DDC-2075-7CBD-00B4-0A5FF0991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61BCB4B-7BA4-C015-73C7-CCB7C711A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66911175-474B-12E2-5643-2B2F3FFB2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13989"/>
            <a:ext cx="12192000" cy="313131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1F64E64-6D6D-FD01-EAE6-1980B14DBBBE}"/>
              </a:ext>
            </a:extLst>
          </p:cNvPr>
          <p:cNvSpPr/>
          <p:nvPr/>
        </p:nvSpPr>
        <p:spPr>
          <a:xfrm>
            <a:off x="1689804" y="1798717"/>
            <a:ext cx="2262909" cy="16357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8022FD3-7302-60CC-C506-49A33769A47F}"/>
              </a:ext>
            </a:extLst>
          </p:cNvPr>
          <p:cNvSpPr txBox="1"/>
          <p:nvPr/>
        </p:nvSpPr>
        <p:spPr>
          <a:xfrm>
            <a:off x="950827" y="1798717"/>
            <a:ext cx="3084946" cy="1710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ct val="150000"/>
              </a:lnSpc>
            </a:pPr>
            <a:r>
              <a:rPr lang="zh-HK" altLang="zh-HK" sz="1800">
                <a:ea typeface="+mn-lt"/>
                <a:cs typeface="+mn-lt"/>
              </a:rPr>
              <a:t>View a live dashboard of all incoming patient orders</a:t>
            </a:r>
            <a:endParaRPr lang="zh-HK" altLang="zh-HK" sz="1800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830BB01-9E8B-B8DD-5CB6-E7677013BE8C}"/>
              </a:ext>
            </a:extLst>
          </p:cNvPr>
          <p:cNvSpPr/>
          <p:nvPr/>
        </p:nvSpPr>
        <p:spPr>
          <a:xfrm>
            <a:off x="4631983" y="1727600"/>
            <a:ext cx="2666580" cy="12376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B7D318C-5C72-3A5F-49F3-38F48651C1C1}"/>
              </a:ext>
            </a:extLst>
          </p:cNvPr>
          <p:cNvSpPr txBox="1"/>
          <p:nvPr/>
        </p:nvSpPr>
        <p:spPr>
          <a:xfrm>
            <a:off x="4153110" y="1902703"/>
            <a:ext cx="3162796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ct val="150000"/>
              </a:lnSpc>
            </a:pPr>
            <a:r>
              <a:rPr lang="zh-HK" altLang="zh-HK">
                <a:ea typeface="+mn-lt"/>
                <a:cs typeface="+mn-lt"/>
              </a:rPr>
              <a:t>See key details for each order</a:t>
            </a:r>
            <a:endParaRPr lang="zh-HK" altLang="zh-HK" sz="1800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C20B1A3-1E62-6412-57EA-496B81CBE3F8}"/>
              </a:ext>
            </a:extLst>
          </p:cNvPr>
          <p:cNvCxnSpPr>
            <a:cxnSpLocks/>
          </p:cNvCxnSpPr>
          <p:nvPr/>
        </p:nvCxnSpPr>
        <p:spPr>
          <a:xfrm flipH="1">
            <a:off x="2817091" y="2963367"/>
            <a:ext cx="2166661" cy="1208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67D860EB-74D6-3159-A2A2-6B78B478C0C7}"/>
              </a:ext>
            </a:extLst>
          </p:cNvPr>
          <p:cNvCxnSpPr>
            <a:cxnSpLocks/>
          </p:cNvCxnSpPr>
          <p:nvPr/>
        </p:nvCxnSpPr>
        <p:spPr>
          <a:xfrm>
            <a:off x="5818977" y="2963367"/>
            <a:ext cx="277023" cy="1188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CC863C20-C39E-26B9-AB9D-48D114B2747D}"/>
              </a:ext>
            </a:extLst>
          </p:cNvPr>
          <p:cNvCxnSpPr>
            <a:cxnSpLocks/>
          </p:cNvCxnSpPr>
          <p:nvPr/>
        </p:nvCxnSpPr>
        <p:spPr>
          <a:xfrm>
            <a:off x="6474691" y="2963367"/>
            <a:ext cx="2558473" cy="1188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0B34E6A4-8359-E301-C636-28997E3AE43B}"/>
              </a:ext>
            </a:extLst>
          </p:cNvPr>
          <p:cNvSpPr/>
          <p:nvPr/>
        </p:nvSpPr>
        <p:spPr>
          <a:xfrm>
            <a:off x="8263885" y="1717203"/>
            <a:ext cx="2666580" cy="12376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EAC6FB6-AC29-87BE-1C78-DA83F3728BCD}"/>
              </a:ext>
            </a:extLst>
          </p:cNvPr>
          <p:cNvSpPr txBox="1"/>
          <p:nvPr/>
        </p:nvSpPr>
        <p:spPr>
          <a:xfrm>
            <a:off x="8214631" y="1816483"/>
            <a:ext cx="2466109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HK" altLang="zh-HK" sz="1800">
                <a:ea typeface="+mn-lt"/>
                <a:cs typeface="+mn-lt"/>
              </a:rPr>
              <a:t>Update the status of an order </a:t>
            </a:r>
            <a:endParaRPr lang="en-US" altLang="zh-HK" sz="1800">
              <a:ea typeface="+mn-lt"/>
              <a:cs typeface="+mn-lt"/>
            </a:endParaRPr>
          </a:p>
        </p:txBody>
      </p: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EB85F50F-C685-3BC8-EDE1-9874BF8AB6AC}"/>
              </a:ext>
            </a:extLst>
          </p:cNvPr>
          <p:cNvCxnSpPr>
            <a:cxnSpLocks/>
          </p:cNvCxnSpPr>
          <p:nvPr/>
        </p:nvCxnSpPr>
        <p:spPr>
          <a:xfrm>
            <a:off x="9855200" y="2944479"/>
            <a:ext cx="1089891" cy="1207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0224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6687091-CA2B-FBFD-4F25-32E94B11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23</a:t>
            </a:fld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0ED3DA6-5194-359B-C661-5489664873F6}"/>
              </a:ext>
            </a:extLst>
          </p:cNvPr>
          <p:cNvSpPr txBox="1"/>
          <p:nvPr/>
        </p:nvSpPr>
        <p:spPr>
          <a:xfrm>
            <a:off x="618006" y="453292"/>
            <a:ext cx="6096000" cy="1166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HK" sz="3600" b="1">
                <a:latin typeface="+mj-lt"/>
                <a:ea typeface="+mj-ea"/>
                <a:cs typeface="+mj-cs"/>
              </a:rPr>
              <a:t>Requirements – </a:t>
            </a:r>
            <a:r>
              <a:rPr kumimoji="1" lang="en-US" altLang="zh-HK" sz="3600" b="1">
                <a:latin typeface="+mj-lt"/>
                <a:ea typeface="+mj-ea"/>
                <a:cs typeface="+mj-cs"/>
              </a:rPr>
              <a:t>Functional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HK" sz="3600" b="1"/>
              <a:t>Menu Control</a:t>
            </a:r>
            <a:endParaRPr lang="zh-HK" altLang="en-US" sz="360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CD240A4-E6D2-D9B3-7B53-7811DC613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58" y="1619765"/>
            <a:ext cx="3610479" cy="365811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15F805A-2F0B-097E-70D2-09CAA787F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06" y="5511993"/>
            <a:ext cx="6592220" cy="809738"/>
          </a:xfrm>
          <a:prstGeom prst="rect">
            <a:avLst/>
          </a:prstGeom>
        </p:spPr>
      </p:pic>
      <p:sp>
        <p:nvSpPr>
          <p:cNvPr id="3" name="矩形: 圓角 15">
            <a:extLst>
              <a:ext uri="{FF2B5EF4-FFF2-40B4-BE49-F238E27FC236}">
                <a16:creationId xmlns:a16="http://schemas.microsoft.com/office/drawing/2014/main" id="{4B78CD18-993F-261C-C0D2-F4C837D9183A}"/>
              </a:ext>
            </a:extLst>
          </p:cNvPr>
          <p:cNvSpPr/>
          <p:nvPr/>
        </p:nvSpPr>
        <p:spPr>
          <a:xfrm>
            <a:off x="3225197" y="2277080"/>
            <a:ext cx="3610479" cy="69375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HK">
                <a:solidFill>
                  <a:schemeClr val="tx1"/>
                </a:solidFill>
              </a:rPr>
              <a:t>Add new food items to the menu </a:t>
            </a:r>
          </a:p>
        </p:txBody>
      </p:sp>
      <p:sp>
        <p:nvSpPr>
          <p:cNvPr id="9" name="矩形: 圓角 15">
            <a:extLst>
              <a:ext uri="{FF2B5EF4-FFF2-40B4-BE49-F238E27FC236}">
                <a16:creationId xmlns:a16="http://schemas.microsoft.com/office/drawing/2014/main" id="{35DA0150-F0B5-1038-919E-1703071F8816}"/>
              </a:ext>
            </a:extLst>
          </p:cNvPr>
          <p:cNvSpPr/>
          <p:nvPr/>
        </p:nvSpPr>
        <p:spPr>
          <a:xfrm>
            <a:off x="3225197" y="3628152"/>
            <a:ext cx="5179064" cy="69375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en-US" altLang="zh-HK">
                <a:solidFill>
                  <a:schemeClr val="tx1"/>
                </a:solidFill>
              </a:rPr>
              <a:t>Delete food items from the menu entirely</a:t>
            </a:r>
          </a:p>
        </p:txBody>
      </p:sp>
      <p:cxnSp>
        <p:nvCxnSpPr>
          <p:cNvPr id="11" name="直線單箭頭接點 20">
            <a:extLst>
              <a:ext uri="{FF2B5EF4-FFF2-40B4-BE49-F238E27FC236}">
                <a16:creationId xmlns:a16="http://schemas.microsoft.com/office/drawing/2014/main" id="{D043FC9E-BBE2-8645-5252-9EA8CC262D5F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1856509" y="2277080"/>
            <a:ext cx="1368688" cy="346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20">
            <a:extLst>
              <a:ext uri="{FF2B5EF4-FFF2-40B4-BE49-F238E27FC236}">
                <a16:creationId xmlns:a16="http://schemas.microsoft.com/office/drawing/2014/main" id="{46CB62EE-5584-4C89-759B-AA89687154B3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2706255" y="3429000"/>
            <a:ext cx="518942" cy="546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: 圓角 15">
            <a:extLst>
              <a:ext uri="{FF2B5EF4-FFF2-40B4-BE49-F238E27FC236}">
                <a16:creationId xmlns:a16="http://schemas.microsoft.com/office/drawing/2014/main" id="{B93FE1AD-251E-6C1D-554F-AAD44E8753D3}"/>
              </a:ext>
            </a:extLst>
          </p:cNvPr>
          <p:cNvSpPr/>
          <p:nvPr/>
        </p:nvSpPr>
        <p:spPr>
          <a:xfrm>
            <a:off x="7075055" y="5725332"/>
            <a:ext cx="4830618" cy="69375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en-US" altLang="zh-HK">
                <a:solidFill>
                  <a:schemeClr val="tx1"/>
                </a:solidFill>
              </a:rPr>
              <a:t>Update the price of existing menu items. </a:t>
            </a:r>
            <a:endParaRPr lang="en-US" altLang="zh-TW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613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014FB-3004-02CA-27D8-D9C03DDC3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12A462B-8793-D3D8-5FE1-684B18E1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24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119F07D-BB9A-BEBE-EC58-6E258AC40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369" y="1757275"/>
            <a:ext cx="9032631" cy="4916262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4555ACD6-30E9-4208-E1BA-6D91B1500F9A}"/>
              </a:ext>
            </a:extLst>
          </p:cNvPr>
          <p:cNvSpPr txBox="1"/>
          <p:nvPr/>
        </p:nvSpPr>
        <p:spPr>
          <a:xfrm>
            <a:off x="570507" y="507734"/>
            <a:ext cx="6096000" cy="1180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HK" sz="3600" b="1">
                <a:latin typeface="+mj-lt"/>
                <a:ea typeface="+mj-ea"/>
                <a:cs typeface="+mj-cs"/>
              </a:rPr>
              <a:t>Requirements – </a:t>
            </a:r>
            <a:r>
              <a:rPr kumimoji="1" lang="en-US" altLang="zh-HK" sz="3600" b="1">
                <a:latin typeface="+mj-lt"/>
                <a:ea typeface="+mj-ea"/>
                <a:cs typeface="+mj-cs"/>
              </a:rPr>
              <a:t>Functional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HK" sz="3600" b="1"/>
              <a:t>Information &amp; Feedback</a:t>
            </a:r>
            <a:endParaRPr lang="zh-HK" altLang="en-US" sz="3600"/>
          </a:p>
        </p:txBody>
      </p:sp>
      <p:sp>
        <p:nvSpPr>
          <p:cNvPr id="7" name="矩形: 圓角 15">
            <a:extLst>
              <a:ext uri="{FF2B5EF4-FFF2-40B4-BE49-F238E27FC236}">
                <a16:creationId xmlns:a16="http://schemas.microsoft.com/office/drawing/2014/main" id="{2162D5AC-B3C4-934B-8756-67821DB7C8F5}"/>
              </a:ext>
            </a:extLst>
          </p:cNvPr>
          <p:cNvSpPr/>
          <p:nvPr/>
        </p:nvSpPr>
        <p:spPr>
          <a:xfrm>
            <a:off x="3789284" y="4525684"/>
            <a:ext cx="2666580" cy="12376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>
                <a:solidFill>
                  <a:schemeClr val="tx1"/>
                </a:solidFill>
              </a:rPr>
              <a:t>Hospital location map</a:t>
            </a:r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9" name="矩形: 圓角 15">
            <a:extLst>
              <a:ext uri="{FF2B5EF4-FFF2-40B4-BE49-F238E27FC236}">
                <a16:creationId xmlns:a16="http://schemas.microsoft.com/office/drawing/2014/main" id="{8287E090-3724-929E-8681-975C7033DABC}"/>
              </a:ext>
            </a:extLst>
          </p:cNvPr>
          <p:cNvSpPr/>
          <p:nvPr/>
        </p:nvSpPr>
        <p:spPr>
          <a:xfrm>
            <a:off x="514250" y="2151213"/>
            <a:ext cx="2666580" cy="12376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>
                <a:solidFill>
                  <a:schemeClr val="tx1"/>
                </a:solidFill>
              </a:rPr>
              <a:t>Questionnaire to collect opinion of the website</a:t>
            </a:r>
            <a:endParaRPr lang="zh-HK" altLang="en-US">
              <a:solidFill>
                <a:schemeClr val="tx1"/>
              </a:solidFill>
            </a:endParaRPr>
          </a:p>
        </p:txBody>
      </p:sp>
      <p:cxnSp>
        <p:nvCxnSpPr>
          <p:cNvPr id="11" name="直線單箭頭接點 20">
            <a:extLst>
              <a:ext uri="{FF2B5EF4-FFF2-40B4-BE49-F238E27FC236}">
                <a16:creationId xmlns:a16="http://schemas.microsoft.com/office/drawing/2014/main" id="{435ACD04-0321-CAE6-6287-C4CE1CAB43E4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180830" y="2770050"/>
            <a:ext cx="875355" cy="500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20">
            <a:extLst>
              <a:ext uri="{FF2B5EF4-FFF2-40B4-BE49-F238E27FC236}">
                <a16:creationId xmlns:a16="http://schemas.microsoft.com/office/drawing/2014/main" id="{357A3CD3-CF42-F916-FBF9-0EF34555E4F8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6455864" y="5119873"/>
            <a:ext cx="906938" cy="24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338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8A75B4-F23D-394E-0605-AC6B370A3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152" y="658723"/>
            <a:ext cx="11155680" cy="1463040"/>
          </a:xfrm>
        </p:spPr>
        <p:txBody>
          <a:bodyPr/>
          <a:lstStyle/>
          <a:p>
            <a:r>
              <a:rPr lang="en-US" altLang="zh-HK" sz="4000"/>
              <a:t>Requirements</a:t>
            </a:r>
            <a:br>
              <a:rPr lang="en-US" altLang="zh-HK" sz="4000"/>
            </a:br>
            <a:r>
              <a:rPr lang="en-US" altLang="zh-HK" sz="4000"/>
              <a:t>Non-Functional Requirements:</a:t>
            </a:r>
            <a:endParaRPr lang="zh-TW" altLang="en-US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66A2B7D3-C616-ED6F-27B8-540445F1E1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6736645"/>
              </p:ext>
            </p:extLst>
          </p:nvPr>
        </p:nvGraphicFramePr>
        <p:xfrm>
          <a:off x="582168" y="2002536"/>
          <a:ext cx="11332464" cy="44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617">
                  <a:extLst>
                    <a:ext uri="{9D8B030D-6E8A-4147-A177-3AD203B41FA5}">
                      <a16:colId xmlns:a16="http://schemas.microsoft.com/office/drawing/2014/main" val="2639715249"/>
                    </a:ext>
                  </a:extLst>
                </a:gridCol>
                <a:gridCol w="9234847">
                  <a:extLst>
                    <a:ext uri="{9D8B030D-6E8A-4147-A177-3AD203B41FA5}">
                      <a16:colId xmlns:a16="http://schemas.microsoft.com/office/drawing/2014/main" val="3157637622"/>
                    </a:ext>
                  </a:extLst>
                </a:gridCol>
              </a:tblGrid>
              <a:tr h="47560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HK" sz="1800" b="1" i="0" u="none" strike="noStrike" noProof="0">
                          <a:latin typeface="Bierstadt"/>
                        </a:rPr>
                        <a:t>Quality Attribute</a:t>
                      </a:r>
                      <a:endParaRPr lang="zh-TW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HK" altLang="en-US"/>
                        <a:t>Requirments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451557"/>
                  </a:ext>
                </a:extLst>
              </a:tr>
              <a:tr h="10929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HK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Performance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HK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The system should load main pages quickly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HK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Process menu browsing and order submission to reduce waiting time</a:t>
                      </a:r>
                      <a:endParaRPr lang="zh-HK" sz="1800" b="0" i="0" u="none" strike="noStrike" noProof="0">
                        <a:solidFill>
                          <a:srgbClr val="000000"/>
                        </a:solidFill>
                        <a:latin typeface="Bierstadt"/>
                      </a:endParaRPr>
                    </a:p>
                    <a:p>
                      <a:pPr lvl="0">
                        <a:buNone/>
                      </a:pPr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905886"/>
                  </a:ext>
                </a:extLst>
              </a:tr>
              <a:tr h="7650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HK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Usability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HK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The interface should be simple, clear, and easy to use for users</a:t>
                      </a:r>
                      <a:endParaRPr lang="en-US" altLang="zh-HK" sz="1800" b="0" i="0" u="none" strike="noStrike" noProof="0">
                        <a:solidFill>
                          <a:srgbClr val="000000"/>
                        </a:solidFill>
                        <a:latin typeface="Bierstadt"/>
                      </a:endParaRPr>
                    </a:p>
                    <a:p>
                      <a:pPr lvl="0">
                        <a:buNone/>
                      </a:pPr>
                      <a:r>
                        <a:rPr lang="en-US" altLang="zh-HK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I</a:t>
                      </a:r>
                      <a:r>
                        <a:rPr lang="zh-HK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ncluding patients, staff, and visitors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688831"/>
                  </a:ext>
                </a:extLst>
              </a:tr>
              <a:tr h="11768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HK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Accessibility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HK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The system support readable text, clear contrast, large buttons</a:t>
                      </a:r>
                      <a:endParaRPr lang="en-US" altLang="zh-HK" sz="1800" b="0" i="0" u="none" strike="noStrike" noProof="0">
                        <a:solidFill>
                          <a:srgbClr val="000000"/>
                        </a:solidFill>
                        <a:latin typeface="Bierstadt"/>
                      </a:endParaRPr>
                    </a:p>
                    <a:p>
                      <a:pPr lvl="0">
                        <a:buNone/>
                      </a:pPr>
                      <a:r>
                        <a:rPr lang="zh-HK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Since hospital users may include elderly people or users with physical limitations, the interface should be easy to understand</a:t>
                      </a:r>
                      <a:endParaRPr lang="en-US" altLang="zh-HK" sz="1800" b="0" i="0" u="none" strike="noStrike" noProof="0">
                        <a:solidFill>
                          <a:srgbClr val="000000"/>
                        </a:solidFill>
                        <a:latin typeface="Bierstadt"/>
                      </a:endParaRPr>
                    </a:p>
                    <a:p>
                      <a:pPr lvl="0">
                        <a:buNone/>
                      </a:pPr>
                      <a:r>
                        <a:rPr lang="en-US" altLang="zh-TW"/>
                        <a:t>Portable for mobile devices and desktop computers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68055"/>
                  </a:ext>
                </a:extLst>
              </a:tr>
              <a:tr h="9061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HK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Reliability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HK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The system preserve order information correctly even during busy periods</a:t>
                      </a:r>
                      <a:endParaRPr lang="en-US" altLang="zh-HK" sz="1800" b="0" i="0" u="none" strike="noStrike" noProof="0">
                        <a:solidFill>
                          <a:srgbClr val="000000"/>
                        </a:solidFill>
                        <a:latin typeface="Bierstadt"/>
                      </a:endParaRPr>
                    </a:p>
                    <a:p>
                      <a:pPr lvl="0">
                        <a:buNone/>
                      </a:pPr>
                      <a:r>
                        <a:rPr lang="zh-HK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Since it provide a clear order record after users submitted the order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13559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A8C2B9-7517-E11D-6C9A-5EB85D0E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8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35370C-620B-D375-C147-F853AB49B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12" y="804672"/>
            <a:ext cx="11155680" cy="1463040"/>
          </a:xfrm>
        </p:spPr>
        <p:txBody>
          <a:bodyPr>
            <a:normAutofit/>
          </a:bodyPr>
          <a:lstStyle/>
          <a:p>
            <a:r>
              <a:rPr lang="en-US" altLang="zh-HK" sz="4000"/>
              <a:t>Requirements</a:t>
            </a:r>
            <a:br>
              <a:rPr lang="en-US" altLang="zh-HK" sz="4000"/>
            </a:br>
            <a:r>
              <a:rPr lang="en-US" altLang="zh-HK" sz="4000"/>
              <a:t>Non-Functional Requirements:</a:t>
            </a:r>
            <a:endParaRPr lang="zh-HK" altLang="en-US" sz="400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76E902FA-47F4-FF25-64B4-88BCA8FA81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0069813"/>
              </p:ext>
            </p:extLst>
          </p:nvPr>
        </p:nvGraphicFramePr>
        <p:xfrm>
          <a:off x="566576" y="2267712"/>
          <a:ext cx="11238328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2526">
                  <a:extLst>
                    <a:ext uri="{9D8B030D-6E8A-4147-A177-3AD203B41FA5}">
                      <a16:colId xmlns:a16="http://schemas.microsoft.com/office/drawing/2014/main" val="2639715249"/>
                    </a:ext>
                  </a:extLst>
                </a:gridCol>
                <a:gridCol w="9145802">
                  <a:extLst>
                    <a:ext uri="{9D8B030D-6E8A-4147-A177-3AD203B41FA5}">
                      <a16:colId xmlns:a16="http://schemas.microsoft.com/office/drawing/2014/main" val="3157637622"/>
                    </a:ext>
                  </a:extLst>
                </a:gridCol>
              </a:tblGrid>
              <a:tr h="76399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HK" sz="1800" b="0" i="0" u="none" strike="noStrike" noProof="0">
                          <a:latin typeface="Bierstadt"/>
                        </a:rPr>
                        <a:t>Quality Attribute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HK" altLang="en-US"/>
                        <a:t>Requirments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451557"/>
                  </a:ext>
                </a:extLst>
              </a:tr>
              <a:tr h="1684627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18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Maintainability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HK" sz="18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The code must be organized into separate: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HK" sz="18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Logical files (HTML, CSS, JavaScript)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HK" sz="18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For each feature, making it easy to update, debug, or add new functionality in the future</a:t>
                      </a:r>
                      <a:endParaRPr lang="zh-HK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905886"/>
                  </a:ext>
                </a:extLst>
              </a:tr>
              <a:tr h="1336993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18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Localization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HK" sz="18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The system is designed to support multiple languages </a:t>
                      </a:r>
                    </a:p>
                    <a:p>
                      <a:pPr lvl="0">
                        <a:buNone/>
                      </a:pPr>
                      <a:r>
                        <a:rPr lang="en-US" altLang="zh-HK" sz="18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(As indicated by translations.js)</a:t>
                      </a:r>
                    </a:p>
                    <a:p>
                      <a:pPr lvl="0">
                        <a:buNone/>
                      </a:pPr>
                      <a:r>
                        <a:rPr lang="en-US" altLang="zh-HK" sz="18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Allowing for easy adaptation to different user groups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68883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640DE-F11F-FD75-04C3-4C16E68CE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394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E75110-AE67-3F82-D46F-FDEEC7442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err="1"/>
              <a:t>MoSCoW</a:t>
            </a:r>
            <a:r>
              <a:rPr lang="en-US" sz="4000"/>
              <a:t> </a:t>
            </a:r>
            <a:r>
              <a:rPr lang="en-US" sz="4000" err="1"/>
              <a:t>Prioritisation</a:t>
            </a:r>
            <a:r>
              <a:rPr lang="en-US" sz="4000"/>
              <a:t>: Must Have</a:t>
            </a:r>
            <a:endParaRPr lang="zh-TW" sz="400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505B208D-1D1A-6CDF-8E6A-E78D2F70AD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4585575"/>
              </p:ext>
            </p:extLst>
          </p:nvPr>
        </p:nvGraphicFramePr>
        <p:xfrm>
          <a:off x="443738" y="1819148"/>
          <a:ext cx="11163046" cy="4261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8046">
                  <a:extLst>
                    <a:ext uri="{9D8B030D-6E8A-4147-A177-3AD203B41FA5}">
                      <a16:colId xmlns:a16="http://schemas.microsoft.com/office/drawing/2014/main" val="3291110797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789836268"/>
                    </a:ext>
                  </a:extLst>
                </a:gridCol>
              </a:tblGrid>
              <a:tr h="46727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1800" u="none" strike="noStrike" noProof="0">
                          <a:solidFill>
                            <a:schemeClr val="bg1"/>
                          </a:solidFill>
                        </a:rPr>
                        <a:t>Must Have:</a:t>
                      </a:r>
                      <a:endParaRPr lang="zh-TW" sz="18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/>
                        <a:t>Why?</a:t>
                      </a:r>
                      <a:endParaRPr lang="zh-TW" alt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177783"/>
                  </a:ext>
                </a:extLst>
              </a:tr>
              <a:tr h="841101">
                <a:tc>
                  <a:txBody>
                    <a:bodyPr/>
                    <a:lstStyle/>
                    <a:p>
                      <a:pPr marL="742950" marR="0" lvl="1" indent="-285750" algn="l">
                        <a:lnSpc>
                          <a:spcPct val="11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altLang="zh-TW" sz="1800" u="none" strike="noStrike" noProof="0">
                          <a:solidFill>
                            <a:srgbClr val="000000"/>
                          </a:solidFill>
                        </a:rPr>
                        <a:t>Browse the menu, such as food name, prices</a:t>
                      </a:r>
                    </a:p>
                    <a:p>
                      <a:pPr lvl="0">
                        <a:buNone/>
                      </a:pPr>
                      <a:endParaRPr lang="zh-TW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u="none" strike="noStrike" noProof="0"/>
                        <a:t>Users must be able to see available food and prices to place any order</a:t>
                      </a:r>
                      <a:endParaRPr lang="zh-TW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90155"/>
                  </a:ext>
                </a:extLst>
              </a:tr>
              <a:tr h="1097002">
                <a:tc>
                  <a:txBody>
                    <a:bodyPr/>
                    <a:lstStyle/>
                    <a:p>
                      <a:pPr marL="742950" marR="0" lvl="1" indent="-285750" algn="l">
                        <a:lnSpc>
                          <a:spcPct val="11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altLang="zh-TW" sz="1800" u="none" strike="noStrike" noProof="0">
                          <a:solidFill>
                            <a:srgbClr val="000000"/>
                          </a:solidFill>
                        </a:rPr>
                        <a:t>Choose pickup or delivery when ordering</a:t>
                      </a:r>
                    </a:p>
                    <a:p>
                      <a:pPr lvl="0">
                        <a:buNone/>
                      </a:pPr>
                      <a:endParaRPr lang="zh-TW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u="none" strike="noStrike" noProof="0"/>
                        <a:t>This feature is critical as it determines the entire logistical workflow for the kitchen and staff</a:t>
                      </a:r>
                      <a:endParaRPr lang="zh-TW" sz="1800"/>
                    </a:p>
                    <a:p>
                      <a:pPr lvl="0">
                        <a:buNone/>
                      </a:pPr>
                      <a:endParaRPr lang="zh-TW" alt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23644"/>
                  </a:ext>
                </a:extLst>
              </a:tr>
              <a:tr h="1017245">
                <a:tc>
                  <a:txBody>
                    <a:bodyPr/>
                    <a:lstStyle/>
                    <a:p>
                      <a:pPr marL="742950" marR="0" lvl="1" indent="-285750" algn="l">
                        <a:lnSpc>
                          <a:spcPct val="11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altLang="zh-TW" sz="1800" u="none" strike="noStrike" noProof="0">
                          <a:solidFill>
                            <a:srgbClr val="000000"/>
                          </a:solidFill>
                        </a:rPr>
                        <a:t>Enter the delivery details such as patient bed number, or department number</a:t>
                      </a:r>
                    </a:p>
                    <a:p>
                      <a:pPr lvl="0">
                        <a:buNone/>
                      </a:pPr>
                      <a:endParaRPr lang="zh-TW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u="none" strike="noStrike" noProof="0"/>
                        <a:t>Precise delivery details are non-negotiable to ensure food reaches the correct patient</a:t>
                      </a:r>
                      <a:endParaRPr lang="zh-TW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087154"/>
                  </a:ext>
                </a:extLst>
              </a:tr>
              <a:tr h="838661">
                <a:tc>
                  <a:txBody>
                    <a:bodyPr/>
                    <a:lstStyle/>
                    <a:p>
                      <a:pPr marL="742950" marR="0" lvl="1" indent="-285750" algn="l">
                        <a:lnSpc>
                          <a:spcPct val="11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altLang="zh-TW" sz="1800" u="none" strike="noStrike" noProof="0">
                          <a:solidFill>
                            <a:srgbClr val="000000"/>
                          </a:solidFill>
                        </a:rPr>
                        <a:t>Confirm the order and provide order number</a:t>
                      </a:r>
                      <a:endParaRPr lang="zh-TW" sz="1800"/>
                    </a:p>
                    <a:p>
                      <a:pPr lvl="0">
                        <a:buNone/>
                      </a:pPr>
                      <a:endParaRPr lang="zh-TW" altLang="en-US" sz="1800"/>
                    </a:p>
                  </a:txBody>
                  <a:tcPr marL="89504" marR="89504" marT="44752" marB="44752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1800" u="none" strike="noStrike" noProof="0"/>
                        <a:t>The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order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number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is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the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essential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unique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identifier</a:t>
                      </a:r>
                      <a:r>
                        <a:rPr lang="zh-TW" altLang="en-US" sz="1800" u="none" strike="noStrike" noProof="0"/>
                        <a:t> </a:t>
                      </a:r>
                      <a:endParaRPr lang="en-US" altLang="zh-TW" sz="1800" u="none" strike="noStrike" noProof="0"/>
                    </a:p>
                    <a:p>
                      <a:pPr lvl="0">
                        <a:buNone/>
                      </a:pPr>
                      <a:r>
                        <a:rPr lang="en-US" altLang="zh-TW" sz="1800" u="none" strike="noStrike" noProof="0"/>
                        <a:t>For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tracking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an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order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for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both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patients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and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staff</a:t>
                      </a:r>
                      <a:endParaRPr lang="zh-TW" sz="1800"/>
                    </a:p>
                  </a:txBody>
                  <a:tcPr marL="89504" marR="89504" marT="44752" marB="44752"/>
                </a:tc>
                <a:extLst>
                  <a:ext uri="{0D108BD9-81ED-4DB2-BD59-A6C34878D82A}">
                    <a16:rowId xmlns:a16="http://schemas.microsoft.com/office/drawing/2014/main" val="421847377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D98219-9F76-2640-6EB0-4978D55A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85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F4E6C0E-027F-E80B-DCDC-EBF5F8CAD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sz="4000" err="1"/>
              <a:t>MoSCoW</a:t>
            </a:r>
            <a:r>
              <a:rPr lang="en-US" sz="4000"/>
              <a:t> </a:t>
            </a:r>
            <a:r>
              <a:rPr lang="en-US" sz="4000" err="1"/>
              <a:t>Prioritisation</a:t>
            </a:r>
            <a:r>
              <a:rPr lang="en-US" sz="4000"/>
              <a:t>: Must Have</a:t>
            </a:r>
            <a:endParaRPr lang="zh-TW" sz="40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內容版面配置區 3">
            <a:extLst>
              <a:ext uri="{FF2B5EF4-FFF2-40B4-BE49-F238E27FC236}">
                <a16:creationId xmlns:a16="http://schemas.microsoft.com/office/drawing/2014/main" id="{E6CA3507-588D-9ABD-979A-7FBB12840F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5753047"/>
              </p:ext>
            </p:extLst>
          </p:nvPr>
        </p:nvGraphicFramePr>
        <p:xfrm>
          <a:off x="491714" y="1932425"/>
          <a:ext cx="11205523" cy="2713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8930">
                  <a:extLst>
                    <a:ext uri="{9D8B030D-6E8A-4147-A177-3AD203B41FA5}">
                      <a16:colId xmlns:a16="http://schemas.microsoft.com/office/drawing/2014/main" val="3291110797"/>
                    </a:ext>
                  </a:extLst>
                </a:gridCol>
                <a:gridCol w="5556593">
                  <a:extLst>
                    <a:ext uri="{9D8B030D-6E8A-4147-A177-3AD203B41FA5}">
                      <a16:colId xmlns:a16="http://schemas.microsoft.com/office/drawing/2014/main" val="789836268"/>
                    </a:ext>
                  </a:extLst>
                </a:gridCol>
              </a:tblGrid>
              <a:tr h="52849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1800" u="none" strike="noStrike" noProof="0">
                          <a:solidFill>
                            <a:schemeClr val="bg1"/>
                          </a:solidFill>
                        </a:rPr>
                        <a:t>Must Have:</a:t>
                      </a:r>
                      <a:endParaRPr lang="zh-TW" sz="1800">
                        <a:solidFill>
                          <a:schemeClr val="bg1"/>
                        </a:solidFill>
                      </a:endParaRPr>
                    </a:p>
                  </a:txBody>
                  <a:tcPr marL="89504" marR="89504" marT="44752" marB="44752"/>
                </a:tc>
                <a:tc>
                  <a:txBody>
                    <a:bodyPr/>
                    <a:lstStyle/>
                    <a:p>
                      <a:r>
                        <a:rPr lang="en-US" altLang="zh-TW" sz="1800"/>
                        <a:t>Why?</a:t>
                      </a:r>
                      <a:endParaRPr lang="zh-TW" altLang="en-US" sz="1800"/>
                    </a:p>
                  </a:txBody>
                  <a:tcPr marL="89504" marR="89504" marT="44752" marB="44752"/>
                </a:tc>
                <a:extLst>
                  <a:ext uri="{0D108BD9-81ED-4DB2-BD59-A6C34878D82A}">
                    <a16:rowId xmlns:a16="http://schemas.microsoft.com/office/drawing/2014/main" val="1528177783"/>
                  </a:ext>
                </a:extLst>
              </a:tr>
              <a:tr h="966821">
                <a:tc>
                  <a:txBody>
                    <a:bodyPr/>
                    <a:lstStyle/>
                    <a:p>
                      <a:pPr marL="742950" marR="0" lvl="1" indent="-285750"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User can add meals to the cart</a:t>
                      </a:r>
                    </a:p>
                    <a:p>
                      <a:pPr lvl="0">
                        <a:lnSpc>
                          <a:spcPct val="150000"/>
                        </a:lnSpc>
                        <a:buNone/>
                      </a:pPr>
                      <a:endParaRPr lang="zh-TW" altLang="en-US" sz="1800"/>
                    </a:p>
                  </a:txBody>
                  <a:tcPr marL="89504" marR="89504" marT="44752" marB="44752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1800" u="none" strike="noStrike" noProof="0"/>
                        <a:t>A funda</a:t>
                      </a:r>
                      <a:r>
                        <a:rPr lang="zh-TW" sz="1800" u="none" strike="noStrike" noProof="0"/>
                        <a:t>me</a:t>
                      </a:r>
                      <a:r>
                        <a:rPr lang="en-US" altLang="zh-TW" sz="1800" u="none" strike="noStrike" noProof="0" err="1"/>
                        <a:t>nt</a:t>
                      </a:r>
                      <a:r>
                        <a:rPr lang="zh-TW" sz="1800" u="none" strike="noStrike" noProof="0"/>
                        <a:t>al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f</a:t>
                      </a:r>
                      <a:r>
                        <a:rPr lang="zh-TW" sz="1800" u="none" strike="noStrike" noProof="0"/>
                        <a:t>e</a:t>
                      </a:r>
                      <a:r>
                        <a:rPr lang="en-US" altLang="zh-TW" sz="1800" u="none" strike="noStrike" noProof="0"/>
                        <a:t>a</a:t>
                      </a:r>
                      <a:r>
                        <a:rPr lang="zh-TW" sz="1800" u="none" strike="noStrike" noProof="0"/>
                        <a:t>t</a:t>
                      </a:r>
                      <a:r>
                        <a:rPr lang="en-US" altLang="zh-TW" sz="1800" u="none" strike="noStrike" noProof="0" err="1"/>
                        <a:t>ur</a:t>
                      </a:r>
                      <a:r>
                        <a:rPr lang="zh-TW" sz="1800" u="none" strike="noStrike" noProof="0"/>
                        <a:t>e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r</a:t>
                      </a:r>
                      <a:r>
                        <a:rPr lang="zh-TW" sz="1800" u="none" strike="noStrike" noProof="0"/>
                        <a:t>e</a:t>
                      </a:r>
                      <a:r>
                        <a:rPr lang="en-US" altLang="zh-TW" sz="1800" u="none" strike="noStrike" noProof="0" err="1"/>
                        <a:t>qu</a:t>
                      </a:r>
                      <a:r>
                        <a:rPr lang="zh-TW" sz="1800" u="none" strike="noStrike" noProof="0"/>
                        <a:t>i</a:t>
                      </a:r>
                      <a:r>
                        <a:rPr lang="en-US" altLang="zh-TW" sz="1800" u="none" strike="noStrike" noProof="0"/>
                        <a:t>r</a:t>
                      </a:r>
                      <a:r>
                        <a:rPr lang="zh-TW" sz="1800" u="none" strike="noStrike" noProof="0"/>
                        <a:t>e</a:t>
                      </a:r>
                      <a:r>
                        <a:rPr lang="en-US" altLang="zh-TW" sz="1800" u="none" strike="noStrike" noProof="0"/>
                        <a:t>d</a:t>
                      </a:r>
                      <a:r>
                        <a:rPr lang="zh-TW" sz="1800" u="none" strike="noStrike" noProof="0"/>
                        <a:t> fo</a:t>
                      </a:r>
                      <a:r>
                        <a:rPr lang="en-US" altLang="zh-TW" sz="1800" u="none" strike="noStrike" noProof="0"/>
                        <a:t>r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any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m</a:t>
                      </a:r>
                      <a:r>
                        <a:rPr lang="zh-TW" sz="1800" u="none" strike="noStrike" noProof="0"/>
                        <a:t>od</a:t>
                      </a:r>
                      <a:r>
                        <a:rPr lang="en-US" altLang="zh-TW" sz="1800" u="none" strike="noStrike" noProof="0"/>
                        <a:t>er</a:t>
                      </a:r>
                      <a:r>
                        <a:rPr lang="zh-TW" sz="1800" u="none" strike="noStrike" noProof="0"/>
                        <a:t>n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zh-TW" sz="1800" u="none" strike="noStrike" noProof="0"/>
                        <a:t>di</a:t>
                      </a:r>
                      <a:r>
                        <a:rPr lang="en-US" altLang="zh-TW" sz="1800" u="none" strike="noStrike" noProof="0" err="1"/>
                        <a:t>gi</a:t>
                      </a:r>
                      <a:r>
                        <a:rPr lang="zh-TW" sz="1800" u="none" strike="noStrike" noProof="0"/>
                        <a:t>ta</a:t>
                      </a:r>
                      <a:r>
                        <a:rPr lang="en-US" altLang="zh-TW" sz="1800" u="none" strike="noStrike" noProof="0"/>
                        <a:t>l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zh-TW" sz="1800" u="none" strike="noStrike" noProof="0"/>
                        <a:t>order</a:t>
                      </a:r>
                      <a:r>
                        <a:rPr lang="en-US" altLang="zh-TW" sz="1800" u="none" strike="noStrike" noProof="0" err="1"/>
                        <a:t>ing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system</a:t>
                      </a:r>
                      <a:endParaRPr lang="zh-TW" sz="1800"/>
                    </a:p>
                  </a:txBody>
                  <a:tcPr marL="89504" marR="89504" marT="44752" marB="44752"/>
                </a:tc>
                <a:extLst>
                  <a:ext uri="{0D108BD9-81ED-4DB2-BD59-A6C34878D82A}">
                    <a16:rowId xmlns:a16="http://schemas.microsoft.com/office/drawing/2014/main" val="356990155"/>
                  </a:ext>
                </a:extLst>
              </a:tr>
              <a:tr h="1217914">
                <a:tc>
                  <a:txBody>
                    <a:bodyPr/>
                    <a:lstStyle/>
                    <a:p>
                      <a:pPr marL="742950" marR="0" lvl="1" indent="-285750"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Staff can update the order status</a:t>
                      </a:r>
                      <a:endParaRPr lang="en-US" altLang="zh-TW" sz="180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 marL="89504" marR="89504" marT="44752" marB="44752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1800" u="none" strike="noStrike" noProof="0"/>
                        <a:t>Th</a:t>
                      </a:r>
                      <a:r>
                        <a:rPr lang="zh-TW" sz="1800" u="none" strike="noStrike" noProof="0"/>
                        <a:t>is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too</a:t>
                      </a:r>
                      <a:r>
                        <a:rPr lang="zh-TW" sz="1800" u="none" strike="noStrike" noProof="0"/>
                        <a:t>l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zh-TW" sz="1800" u="none" strike="noStrike" noProof="0"/>
                        <a:t>i</a:t>
                      </a:r>
                      <a:r>
                        <a:rPr lang="en-US" altLang="zh-TW" sz="1800" u="none" strike="noStrike" noProof="0"/>
                        <a:t>s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zh-TW" sz="1800" u="none" strike="noStrike" noProof="0"/>
                        <a:t>v</a:t>
                      </a:r>
                      <a:r>
                        <a:rPr lang="en-US" altLang="zh-TW" sz="1800" u="none" strike="noStrike" noProof="0" err="1"/>
                        <a:t>i</a:t>
                      </a:r>
                      <a:r>
                        <a:rPr lang="zh-TW" sz="1800" u="none" strike="noStrike" noProof="0"/>
                        <a:t>tal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for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m</a:t>
                      </a:r>
                      <a:r>
                        <a:rPr lang="zh-TW" sz="1800" u="none" strike="noStrike" noProof="0"/>
                        <a:t>a</a:t>
                      </a:r>
                      <a:r>
                        <a:rPr lang="en-US" altLang="zh-TW" sz="1800" u="none" strike="noStrike" noProof="0" err="1"/>
                        <a:t>i</a:t>
                      </a:r>
                      <a:r>
                        <a:rPr lang="zh-TW" sz="1800" u="none" strike="noStrike" noProof="0"/>
                        <a:t>n</a:t>
                      </a:r>
                      <a:r>
                        <a:rPr lang="en-US" altLang="zh-TW" sz="1800" u="none" strike="noStrike" noProof="0"/>
                        <a:t>tai</a:t>
                      </a:r>
                      <a:r>
                        <a:rPr lang="zh-TW" sz="1800" u="none" strike="noStrike" noProof="0"/>
                        <a:t>n</a:t>
                      </a:r>
                      <a:r>
                        <a:rPr lang="en-US" altLang="zh-TW" sz="1800" u="none" strike="noStrike" noProof="0" err="1"/>
                        <a:t>i</a:t>
                      </a:r>
                      <a:r>
                        <a:rPr lang="zh-TW" sz="1800" u="none" strike="noStrike" noProof="0"/>
                        <a:t>ng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zh-TW" sz="1800" u="none" strike="noStrike" noProof="0"/>
                        <a:t>an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acc</a:t>
                      </a:r>
                      <a:r>
                        <a:rPr lang="zh-TW" sz="1800" u="none" strike="noStrike" noProof="0"/>
                        <a:t>ur</a:t>
                      </a:r>
                      <a:r>
                        <a:rPr lang="en-US" altLang="zh-TW" sz="1800" u="none" strike="noStrike" noProof="0"/>
                        <a:t>at</a:t>
                      </a:r>
                      <a:r>
                        <a:rPr lang="zh-TW" sz="1800" u="none" strike="noStrike" noProof="0"/>
                        <a:t>e </a:t>
                      </a:r>
                      <a:r>
                        <a:rPr lang="en-US" altLang="zh-TW" sz="1800" u="none" strike="noStrike" noProof="0"/>
                        <a:t>menu</a:t>
                      </a:r>
                      <a:r>
                        <a:rPr lang="zh-TW" altLang="en-US" sz="1800" u="none" strike="noStrike" noProof="0"/>
                        <a:t> </a:t>
                      </a:r>
                      <a:endParaRPr lang="en-US" altLang="zh-TW" sz="1800" u="none" strike="noStrike" noProof="0"/>
                    </a:p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1800" u="none" strike="noStrike" noProof="0"/>
                        <a:t>P</a:t>
                      </a:r>
                      <a:r>
                        <a:rPr lang="zh-TW" sz="1800" u="none" strike="noStrike" noProof="0"/>
                        <a:t>re</a:t>
                      </a:r>
                      <a:r>
                        <a:rPr lang="en-US" altLang="zh-TW" sz="1800" u="none" strike="noStrike" noProof="0"/>
                        <a:t>v</a:t>
                      </a:r>
                      <a:r>
                        <a:rPr lang="zh-TW" sz="1800" u="none" strike="noStrike" noProof="0"/>
                        <a:t>e</a:t>
                      </a:r>
                      <a:r>
                        <a:rPr lang="en-US" altLang="zh-TW" sz="1800" u="none" strike="noStrike" noProof="0"/>
                        <a:t>n</a:t>
                      </a:r>
                      <a:r>
                        <a:rPr lang="zh-TW" sz="1800" u="none" strike="noStrike" noProof="0"/>
                        <a:t>t</a:t>
                      </a:r>
                      <a:r>
                        <a:rPr lang="en-US" altLang="zh-TW" sz="1800" u="none" strike="noStrike" noProof="0" err="1"/>
                        <a:t>ing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zh-TW" sz="1800" u="none" strike="noStrike" noProof="0"/>
                        <a:t>or</a:t>
                      </a:r>
                      <a:r>
                        <a:rPr lang="en-US" altLang="zh-TW" sz="1800" u="none" strike="noStrike" noProof="0" err="1"/>
                        <a:t>ders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 err="1"/>
                        <a:t>fo</a:t>
                      </a:r>
                      <a:r>
                        <a:rPr lang="zh-TW" sz="1800" u="none" strike="noStrike" noProof="0"/>
                        <a:t>r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 err="1"/>
                        <a:t>unav</a:t>
                      </a:r>
                      <a:r>
                        <a:rPr lang="zh-TW" sz="1800" u="none" strike="noStrike" noProof="0"/>
                        <a:t>ai</a:t>
                      </a:r>
                      <a:r>
                        <a:rPr lang="en-US" altLang="zh-TW" sz="1800" u="none" strike="noStrike" noProof="0" err="1"/>
                        <a:t>labl</a:t>
                      </a:r>
                      <a:r>
                        <a:rPr lang="zh-TW" sz="1800" u="none" strike="noStrike" noProof="0"/>
                        <a:t>e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 err="1"/>
                        <a:t>i</a:t>
                      </a:r>
                      <a:r>
                        <a:rPr lang="zh-TW" sz="1800" u="none" strike="noStrike" noProof="0"/>
                        <a:t>t</a:t>
                      </a:r>
                      <a:r>
                        <a:rPr lang="en-US" altLang="zh-TW" sz="1800" u="none" strike="noStrike" noProof="0" err="1"/>
                        <a:t>ems</a:t>
                      </a:r>
                      <a:endParaRPr lang="zh-TW" sz="1800"/>
                    </a:p>
                  </a:txBody>
                  <a:tcPr marL="89504" marR="89504" marT="44752" marB="44752"/>
                </a:tc>
                <a:extLst>
                  <a:ext uri="{0D108BD9-81ED-4DB2-BD59-A6C34878D82A}">
                    <a16:rowId xmlns:a16="http://schemas.microsoft.com/office/drawing/2014/main" val="289008715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DD3996-B3BC-44A7-827F-6FCD876C5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64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0A4B03-2FD2-31F7-2062-10D21CC6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err="1"/>
              <a:t>MoSCoW</a:t>
            </a:r>
            <a:r>
              <a:rPr lang="en-US" sz="4000"/>
              <a:t> </a:t>
            </a:r>
            <a:r>
              <a:rPr lang="en-US" sz="4000" err="1"/>
              <a:t>Prioritisation</a:t>
            </a:r>
            <a:r>
              <a:rPr lang="en-US" sz="4000"/>
              <a:t>: Should Have</a:t>
            </a:r>
            <a:endParaRPr lang="zh-TW" sz="4000"/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EC15C681-EA29-79C8-24FE-08AF214A4C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7792073"/>
              </p:ext>
            </p:extLst>
          </p:nvPr>
        </p:nvGraphicFramePr>
        <p:xfrm>
          <a:off x="515112" y="1837944"/>
          <a:ext cx="11271504" cy="4427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9600">
                  <a:extLst>
                    <a:ext uri="{9D8B030D-6E8A-4147-A177-3AD203B41FA5}">
                      <a16:colId xmlns:a16="http://schemas.microsoft.com/office/drawing/2014/main" val="3291110797"/>
                    </a:ext>
                  </a:extLst>
                </a:gridCol>
                <a:gridCol w="5791904">
                  <a:extLst>
                    <a:ext uri="{9D8B030D-6E8A-4147-A177-3AD203B41FA5}">
                      <a16:colId xmlns:a16="http://schemas.microsoft.com/office/drawing/2014/main" val="789836268"/>
                    </a:ext>
                  </a:extLst>
                </a:gridCol>
              </a:tblGrid>
              <a:tr h="59934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chemeClr val="bg1"/>
                          </a:solidFill>
                        </a:rPr>
                        <a:t>Should Have:</a:t>
                      </a:r>
                      <a:endParaRPr lang="zh-TW" sz="1800">
                        <a:solidFill>
                          <a:schemeClr val="bg1"/>
                        </a:solidFill>
                      </a:endParaRPr>
                    </a:p>
                  </a:txBody>
                  <a:tcPr marL="89504" marR="89504" marT="44752" marB="44752"/>
                </a:tc>
                <a:tc>
                  <a:txBody>
                    <a:bodyPr/>
                    <a:lstStyle/>
                    <a:p>
                      <a:r>
                        <a:rPr lang="en-US" altLang="zh-TW" sz="1800"/>
                        <a:t>Why?</a:t>
                      </a:r>
                      <a:endParaRPr lang="zh-TW" altLang="en-US" sz="1800"/>
                    </a:p>
                  </a:txBody>
                  <a:tcPr marL="89504" marR="89504" marT="44752" marB="44752"/>
                </a:tc>
                <a:extLst>
                  <a:ext uri="{0D108BD9-81ED-4DB2-BD59-A6C34878D82A}">
                    <a16:rowId xmlns:a16="http://schemas.microsoft.com/office/drawing/2014/main" val="1528177783"/>
                  </a:ext>
                </a:extLst>
              </a:tr>
              <a:tr h="755369">
                <a:tc>
                  <a:txBody>
                    <a:bodyPr/>
                    <a:lstStyle/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800"/>
                        <a:t>Multiple language options</a:t>
                      </a: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altLang="zh-TW" sz="1800"/>
                    </a:p>
                  </a:txBody>
                  <a:tcPr marL="89504" marR="89504" marT="44752" marB="44752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1800"/>
                        <a:t>Allow people from different countries to use the website content</a:t>
                      </a:r>
                    </a:p>
                    <a:p>
                      <a:pPr lvl="0">
                        <a:buNone/>
                      </a:pPr>
                      <a:r>
                        <a:rPr lang="en-US" altLang="zh-TW" sz="1800"/>
                        <a:t>-&gt; Avoid language problem</a:t>
                      </a:r>
                      <a:endParaRPr lang="zh-TW" sz="1800"/>
                    </a:p>
                  </a:txBody>
                  <a:tcPr marL="89504" marR="89504" marT="44752" marB="44752"/>
                </a:tc>
                <a:extLst>
                  <a:ext uri="{0D108BD9-81ED-4DB2-BD59-A6C34878D82A}">
                    <a16:rowId xmlns:a16="http://schemas.microsoft.com/office/drawing/2014/main" val="2886203219"/>
                  </a:ext>
                </a:extLst>
              </a:tr>
              <a:tr h="755369">
                <a:tc>
                  <a:txBody>
                    <a:bodyPr/>
                    <a:lstStyle/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Dietary and allergen information</a:t>
                      </a:r>
                      <a:endParaRPr lang="zh-TW" altLang="en-US" sz="1800"/>
                    </a:p>
                  </a:txBody>
                  <a:tcPr marL="89504" marR="89504" marT="44752" marB="44752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1800"/>
                        <a:t>Users able to view dietary and allergen information for each meal</a:t>
                      </a:r>
                      <a:endParaRPr lang="zh-TW" sz="1800"/>
                    </a:p>
                  </a:txBody>
                  <a:tcPr marL="89504" marR="89504" marT="44752" marB="44752"/>
                </a:tc>
                <a:extLst>
                  <a:ext uri="{0D108BD9-81ED-4DB2-BD59-A6C34878D82A}">
                    <a16:rowId xmlns:a16="http://schemas.microsoft.com/office/drawing/2014/main" val="2610044129"/>
                  </a:ext>
                </a:extLst>
              </a:tr>
              <a:tr h="1080080">
                <a:tc>
                  <a:txBody>
                    <a:bodyPr/>
                    <a:lstStyle/>
                    <a:p>
                      <a:pPr marL="742950" marR="0" lvl="1" indent="-285750" algn="l">
                        <a:lnSpc>
                          <a:spcPct val="11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Staff can track order number order by time</a:t>
                      </a:r>
                      <a:endParaRPr lang="en-US" altLang="zh-TW" sz="180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 marL="89504" marR="89504" marT="44752" marB="44752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u="none" strike="noStrike" noProof="0"/>
                        <a:t>Impo</a:t>
                      </a:r>
                      <a:r>
                        <a:rPr lang="zh-TW" sz="1800" u="none" strike="noStrike" noProof="0"/>
                        <a:t>rtant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fo</a:t>
                      </a:r>
                      <a:r>
                        <a:rPr lang="zh-TW" sz="1800" u="none" strike="noStrike" noProof="0"/>
                        <a:t>r ki</a:t>
                      </a:r>
                      <a:r>
                        <a:rPr lang="en-US" altLang="zh-TW" sz="1800" u="none" strike="noStrike" noProof="0"/>
                        <a:t>tc</a:t>
                      </a:r>
                      <a:r>
                        <a:rPr lang="zh-TW" sz="1800" u="none" strike="noStrike" noProof="0"/>
                        <a:t>he</a:t>
                      </a:r>
                      <a:r>
                        <a:rPr lang="en-US" altLang="zh-TW" sz="1800" u="none" strike="noStrike" noProof="0"/>
                        <a:t>n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effic</a:t>
                      </a:r>
                      <a:r>
                        <a:rPr lang="zh-TW" sz="1800" u="none" strike="noStrike" noProof="0"/>
                        <a:t>ie</a:t>
                      </a:r>
                      <a:r>
                        <a:rPr lang="en-US" altLang="zh-TW" sz="1800" u="none" strike="noStrike" noProof="0"/>
                        <a:t>ncy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u="none" strike="noStrike" noProof="0"/>
                        <a:t>-&gt; Ensuring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me</a:t>
                      </a:r>
                      <a:r>
                        <a:rPr lang="zh-TW" sz="1800" u="none" strike="noStrike" noProof="0"/>
                        <a:t>al</a:t>
                      </a:r>
                      <a:r>
                        <a:rPr lang="en-US" altLang="zh-TW" sz="1800" u="none" strike="noStrike" noProof="0"/>
                        <a:t>s</a:t>
                      </a:r>
                      <a:r>
                        <a:rPr lang="zh-TW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are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prepared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fairly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and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zh-TW" sz="1800" u="none" strike="noStrike" noProof="0"/>
                        <a:t>i</a:t>
                      </a:r>
                      <a:r>
                        <a:rPr lang="en-US" altLang="zh-TW" sz="1800" u="none" strike="noStrike" noProof="0"/>
                        <a:t>n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zh-TW" sz="1800" u="none" strike="noStrike" noProof="0"/>
                        <a:t>the s</a:t>
                      </a:r>
                      <a:r>
                        <a:rPr lang="en-US" altLang="zh-TW" sz="1800" u="none" strike="noStrike" noProof="0"/>
                        <a:t>eq</a:t>
                      </a:r>
                      <a:r>
                        <a:rPr lang="zh-TW" sz="1800" u="none" strike="noStrike" noProof="0"/>
                        <a:t>u</a:t>
                      </a:r>
                      <a:r>
                        <a:rPr lang="en-US" altLang="zh-TW" sz="1800" u="none" strike="noStrike" noProof="0"/>
                        <a:t>en</a:t>
                      </a:r>
                      <a:r>
                        <a:rPr lang="zh-TW" sz="1800" u="none" strike="noStrike" noProof="0"/>
                        <a:t>c</a:t>
                      </a:r>
                      <a:r>
                        <a:rPr lang="en-US" altLang="zh-TW" sz="1800" u="none" strike="noStrike" noProof="0"/>
                        <a:t>e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zh-TW" sz="1800" u="none" strike="noStrike" noProof="0"/>
                        <a:t>t</a:t>
                      </a:r>
                      <a:r>
                        <a:rPr lang="en-US" altLang="zh-TW" sz="1800" u="none" strike="noStrike" noProof="0"/>
                        <a:t>hey</a:t>
                      </a:r>
                      <a:r>
                        <a:rPr lang="zh-TW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were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zh-TW" sz="1800" u="none" strike="noStrike" noProof="0"/>
                        <a:t>r</a:t>
                      </a:r>
                      <a:r>
                        <a:rPr lang="en-US" altLang="zh-TW" sz="1800" u="none" strike="noStrike" noProof="0"/>
                        <a:t>eceived</a:t>
                      </a:r>
                      <a:endParaRPr lang="zh-TW" altLang="en-US" sz="1800"/>
                    </a:p>
                  </a:txBody>
                  <a:tcPr marL="89504" marR="89504" marT="44752" marB="44752"/>
                </a:tc>
                <a:extLst>
                  <a:ext uri="{0D108BD9-81ED-4DB2-BD59-A6C34878D82A}">
                    <a16:rowId xmlns:a16="http://schemas.microsoft.com/office/drawing/2014/main" val="168123644"/>
                  </a:ext>
                </a:extLst>
              </a:tr>
              <a:tr h="1080080">
                <a:tc>
                  <a:txBody>
                    <a:bodyPr/>
                    <a:lstStyle/>
                    <a:p>
                      <a:pPr marL="742950" marR="0" lvl="1" indent="-285750" algn="l">
                        <a:lnSpc>
                          <a:spcPct val="11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The system loads the main page quickly</a:t>
                      </a:r>
                      <a:endParaRPr lang="en-US" altLang="zh-TW" sz="180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 marL="89504" marR="89504" marT="44752" marB="44752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1800" u="none" strike="noStrike" noProof="0"/>
                        <a:t>A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fast-load</a:t>
                      </a:r>
                      <a:r>
                        <a:rPr lang="zh-TW" sz="1800" u="none" strike="noStrike" noProof="0"/>
                        <a:t>i</a:t>
                      </a:r>
                      <a:r>
                        <a:rPr lang="en-US" altLang="zh-TW" sz="1800" u="none" strike="noStrike" noProof="0"/>
                        <a:t>ng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 err="1"/>
                        <a:t>sy</a:t>
                      </a:r>
                      <a:r>
                        <a:rPr lang="zh-TW" sz="1800" u="none" strike="noStrike" noProof="0"/>
                        <a:t>ste</a:t>
                      </a:r>
                      <a:r>
                        <a:rPr lang="en-US" altLang="zh-TW" sz="1800" u="none" strike="noStrike" noProof="0"/>
                        <a:t>m</a:t>
                      </a:r>
                      <a:r>
                        <a:rPr lang="zh-TW" sz="1800" u="none" strike="noStrike" noProof="0"/>
                        <a:t> i</a:t>
                      </a:r>
                      <a:r>
                        <a:rPr lang="en-US" altLang="zh-TW" sz="1800" u="none" strike="noStrike" noProof="0"/>
                        <a:t>s</a:t>
                      </a:r>
                      <a:r>
                        <a:rPr lang="zh-TW" sz="1800" u="none" strike="noStrike" noProof="0"/>
                        <a:t> </a:t>
                      </a:r>
                      <a:r>
                        <a:rPr lang="en-US" altLang="zh-TW" sz="1800" u="none" strike="noStrike" noProof="0" err="1"/>
                        <a:t>cruci</a:t>
                      </a:r>
                      <a:r>
                        <a:rPr lang="zh-TW" sz="1800" u="none" strike="noStrike" noProof="0"/>
                        <a:t>al </a:t>
                      </a:r>
                      <a:r>
                        <a:rPr lang="en-US" altLang="zh-TW" sz="1800" u="none" strike="noStrike" noProof="0"/>
                        <a:t>for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zh-TW" sz="1800" u="none" strike="noStrike" noProof="0"/>
                        <a:t>a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positive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u</a:t>
                      </a:r>
                      <a:r>
                        <a:rPr lang="zh-TW" sz="1800" u="none" strike="noStrike" noProof="0"/>
                        <a:t>s</a:t>
                      </a:r>
                      <a:r>
                        <a:rPr lang="en-US" altLang="zh-TW" sz="1800" u="none" strike="noStrike" noProof="0"/>
                        <a:t>er</a:t>
                      </a:r>
                      <a:r>
                        <a:rPr lang="zh-TW" sz="1800" u="none" strike="noStrike" noProof="0"/>
                        <a:t> </a:t>
                      </a:r>
                      <a:r>
                        <a:rPr lang="en-US" altLang="zh-TW" sz="1800" u="none" strike="noStrike" noProof="0" err="1"/>
                        <a:t>experie</a:t>
                      </a:r>
                      <a:r>
                        <a:rPr lang="zh-TW" sz="1800" u="none" strike="noStrike" noProof="0"/>
                        <a:t>n</a:t>
                      </a:r>
                      <a:r>
                        <a:rPr lang="en-US" altLang="zh-TW" sz="1800" u="none" strike="noStrike" noProof="0" err="1"/>
                        <a:t>ce</a:t>
                      </a:r>
                      <a:r>
                        <a:rPr lang="zh-TW" altLang="en-US" sz="1800" u="none" strike="noStrike" noProof="0"/>
                        <a:t> </a:t>
                      </a:r>
                      <a:endParaRPr lang="en-US" altLang="zh-TW" sz="1800" u="none" strike="noStrike" noProof="0"/>
                    </a:p>
                    <a:p>
                      <a:pPr lvl="0">
                        <a:buNone/>
                      </a:pPr>
                      <a:r>
                        <a:rPr lang="en-US" altLang="zh-TW" sz="1800" u="none" strike="noStrike" noProof="0"/>
                        <a:t>-&gt; P</a:t>
                      </a:r>
                      <a:r>
                        <a:rPr lang="zh-TW" sz="1800" u="none" strike="noStrike" noProof="0"/>
                        <a:t>re</a:t>
                      </a:r>
                      <a:r>
                        <a:rPr lang="en-US" altLang="zh-TW" sz="1800" u="none" strike="noStrike" noProof="0"/>
                        <a:t>v</a:t>
                      </a:r>
                      <a:r>
                        <a:rPr lang="zh-TW" sz="1800" u="none" strike="noStrike" noProof="0"/>
                        <a:t>e</a:t>
                      </a:r>
                      <a:r>
                        <a:rPr lang="en-US" altLang="zh-TW" sz="1800" u="none" strike="noStrike" noProof="0"/>
                        <a:t>n</a:t>
                      </a:r>
                      <a:r>
                        <a:rPr lang="zh-TW" sz="1800" u="none" strike="noStrike" noProof="0"/>
                        <a:t>t</a:t>
                      </a:r>
                      <a:r>
                        <a:rPr lang="en-US" altLang="zh-TW" sz="1800" u="none" strike="noStrike" noProof="0" err="1"/>
                        <a:t>ing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us</a:t>
                      </a:r>
                      <a:r>
                        <a:rPr lang="zh-TW" sz="1800" u="none" strike="noStrike" noProof="0"/>
                        <a:t>e</a:t>
                      </a:r>
                      <a:r>
                        <a:rPr lang="en-US" altLang="zh-TW" sz="1800" u="none" strike="noStrike" noProof="0"/>
                        <a:t>r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f</a:t>
                      </a:r>
                      <a:r>
                        <a:rPr lang="zh-TW" sz="1800" u="none" strike="noStrike" noProof="0"/>
                        <a:t>r</a:t>
                      </a:r>
                      <a:r>
                        <a:rPr lang="en-US" altLang="zh-TW" sz="1800" u="none" strike="noStrike" noProof="0"/>
                        <a:t>us</a:t>
                      </a:r>
                      <a:r>
                        <a:rPr lang="zh-TW" sz="1800" u="none" strike="noStrike" noProof="0"/>
                        <a:t>tra</a:t>
                      </a:r>
                      <a:r>
                        <a:rPr lang="en-US" altLang="zh-TW" sz="1800" u="none" strike="noStrike" noProof="0"/>
                        <a:t>t</a:t>
                      </a:r>
                      <a:r>
                        <a:rPr lang="zh-TW" sz="1800" u="none" strike="noStrike" noProof="0"/>
                        <a:t>i</a:t>
                      </a:r>
                      <a:r>
                        <a:rPr lang="en-US" altLang="zh-TW" sz="1800" u="none" strike="noStrike" noProof="0"/>
                        <a:t>on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or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 err="1"/>
                        <a:t>aband</a:t>
                      </a:r>
                      <a:r>
                        <a:rPr lang="zh-TW" sz="1800" u="none" strike="noStrike" noProof="0"/>
                        <a:t>o</a:t>
                      </a:r>
                      <a:r>
                        <a:rPr lang="en-US" altLang="zh-TW" sz="1800" u="none" strike="noStrike" noProof="0"/>
                        <a:t>nm</a:t>
                      </a:r>
                      <a:r>
                        <a:rPr lang="zh-TW" sz="1800" u="none" strike="noStrike" noProof="0"/>
                        <a:t>e</a:t>
                      </a:r>
                      <a:r>
                        <a:rPr lang="en-US" altLang="zh-TW" sz="1800" u="none" strike="noStrike" noProof="0"/>
                        <a:t>n</a:t>
                      </a:r>
                      <a:r>
                        <a:rPr lang="zh-TW" sz="1800" u="none" strike="noStrike" noProof="0"/>
                        <a:t>t.</a:t>
                      </a:r>
                      <a:endParaRPr lang="zh-TW" sz="1800"/>
                    </a:p>
                  </a:txBody>
                  <a:tcPr marL="89504" marR="89504" marT="44752" marB="44752"/>
                </a:tc>
                <a:extLst>
                  <a:ext uri="{0D108BD9-81ED-4DB2-BD59-A6C34878D82A}">
                    <a16:rowId xmlns:a16="http://schemas.microsoft.com/office/drawing/2014/main" val="289008715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1794B-4C4D-EE41-70DC-B1A93A47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89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EBDA82-DBEE-77C0-E7CC-9F37F47B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11" y="822960"/>
            <a:ext cx="11155680" cy="1463040"/>
          </a:xfrm>
        </p:spPr>
        <p:txBody>
          <a:bodyPr>
            <a:normAutofit/>
          </a:bodyPr>
          <a:lstStyle/>
          <a:p>
            <a:r>
              <a:rPr lang="en-US" sz="4000" err="1"/>
              <a:t>MoSCoW</a:t>
            </a:r>
            <a:r>
              <a:rPr lang="en-US" sz="4000"/>
              <a:t> </a:t>
            </a:r>
            <a:r>
              <a:rPr lang="en-US" sz="4000" err="1"/>
              <a:t>Prioritisation</a:t>
            </a:r>
            <a:r>
              <a:rPr lang="en-US" sz="4000"/>
              <a:t>: Could Have</a:t>
            </a:r>
            <a:endParaRPr lang="zh-TW" sz="4000"/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39EFD9A1-2E16-E5E8-3048-FF2D288ED8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9435027"/>
              </p:ext>
            </p:extLst>
          </p:nvPr>
        </p:nvGraphicFramePr>
        <p:xfrm>
          <a:off x="515111" y="1709928"/>
          <a:ext cx="11155681" cy="4540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804">
                  <a:extLst>
                    <a:ext uri="{9D8B030D-6E8A-4147-A177-3AD203B41FA5}">
                      <a16:colId xmlns:a16="http://schemas.microsoft.com/office/drawing/2014/main" val="3291110797"/>
                    </a:ext>
                  </a:extLst>
                </a:gridCol>
                <a:gridCol w="5531877">
                  <a:extLst>
                    <a:ext uri="{9D8B030D-6E8A-4147-A177-3AD203B41FA5}">
                      <a16:colId xmlns:a16="http://schemas.microsoft.com/office/drawing/2014/main" val="789836268"/>
                    </a:ext>
                  </a:extLst>
                </a:gridCol>
              </a:tblGrid>
              <a:tr h="63438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chemeClr val="bg1"/>
                          </a:solidFill>
                        </a:rPr>
                        <a:t>Could Have:</a:t>
                      </a:r>
                      <a:endParaRPr lang="zh-TW" sz="1800">
                        <a:solidFill>
                          <a:schemeClr val="bg1"/>
                        </a:solidFill>
                      </a:endParaRPr>
                    </a:p>
                  </a:txBody>
                  <a:tcPr marL="89504" marR="89504" marT="44752" marB="44752"/>
                </a:tc>
                <a:tc>
                  <a:txBody>
                    <a:bodyPr/>
                    <a:lstStyle/>
                    <a:p>
                      <a:r>
                        <a:rPr lang="en-US" altLang="zh-TW" sz="1800"/>
                        <a:t>Why?</a:t>
                      </a:r>
                      <a:endParaRPr lang="zh-TW" altLang="en-US" sz="1800"/>
                    </a:p>
                  </a:txBody>
                  <a:tcPr marL="89504" marR="89504" marT="44752" marB="44752"/>
                </a:tc>
                <a:extLst>
                  <a:ext uri="{0D108BD9-81ED-4DB2-BD59-A6C34878D82A}">
                    <a16:rowId xmlns:a16="http://schemas.microsoft.com/office/drawing/2014/main" val="1528177783"/>
                  </a:ext>
                </a:extLst>
              </a:tr>
              <a:tr h="771611">
                <a:tc>
                  <a:txBody>
                    <a:bodyPr/>
                    <a:lstStyle/>
                    <a:p>
                      <a:pPr marL="742950" marR="0" lvl="1" indent="-285750"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altLang="zh-TW" sz="1800" u="none" strike="noStrike" noProof="0">
                          <a:solidFill>
                            <a:srgbClr val="000000"/>
                          </a:solidFill>
                        </a:rPr>
                        <a:t>Register and login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1800" u="none" strike="noStrike" noProof="0"/>
                        <a:t>Users account save in their cookie. </a:t>
                      </a:r>
                      <a:r>
                        <a:rPr lang="zh-TW" sz="1800" u="none" strike="noStrike" noProof="0"/>
                        <a:t>This is </a:t>
                      </a:r>
                      <a:r>
                        <a:rPr lang="en-US" altLang="zh-TW" sz="1800" u="none" strike="noStrike" noProof="0"/>
                        <a:t>E</a:t>
                      </a:r>
                      <a:r>
                        <a:rPr lang="zh-TW" sz="1800" u="none" strike="noStrike" noProof="0"/>
                        <a:t>ssential for a </a:t>
                      </a:r>
                      <a:r>
                        <a:rPr lang="en-US" altLang="zh-TW" sz="1800" u="none" strike="noStrike" noProof="0"/>
                        <a:t>S</a:t>
                      </a:r>
                      <a:r>
                        <a:rPr lang="zh-TW" sz="1800" u="none" strike="noStrike" noProof="0"/>
                        <a:t>ecure, </a:t>
                      </a:r>
                      <a:r>
                        <a:rPr lang="en-US" altLang="zh-TW" sz="1800" u="none" strike="noStrike" noProof="0"/>
                        <a:t>P</a:t>
                      </a:r>
                      <a:r>
                        <a:rPr lang="zh-TW" sz="1800" u="none" strike="noStrike" noProof="0"/>
                        <a:t>ersonalized </a:t>
                      </a:r>
                      <a:r>
                        <a:rPr lang="en-US" altLang="zh-TW" sz="1800" u="none" strike="noStrike" noProof="0"/>
                        <a:t>E</a:t>
                      </a:r>
                      <a:r>
                        <a:rPr lang="zh-TW" sz="1800" u="none" strike="noStrike" noProof="0"/>
                        <a:t>xperience </a:t>
                      </a:r>
                      <a:r>
                        <a:rPr lang="en-US" altLang="zh-TW" sz="1800" u="none" strike="noStrike" noProof="0"/>
                        <a:t>F</a:t>
                      </a:r>
                      <a:r>
                        <a:rPr lang="zh-TW" sz="1800" u="none" strike="noStrike" noProof="0"/>
                        <a:t>or linking orders to the correct patient</a:t>
                      </a:r>
                      <a:endParaRPr lang="zh-TW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636890"/>
                  </a:ext>
                </a:extLst>
              </a:tr>
              <a:tr h="815896">
                <a:tc>
                  <a:txBody>
                    <a:bodyPr/>
                    <a:lstStyle/>
                    <a:p>
                      <a:pPr marL="742950" marR="0" lvl="1" indent="-285750"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Staff can track the orders status by order number</a:t>
                      </a:r>
                    </a:p>
                  </a:txBody>
                  <a:tcPr marL="89504" marR="89504" marT="44752" marB="44752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1800" u="none" strike="noStrike" noProof="0" err="1"/>
                        <a:t>Thi</a:t>
                      </a:r>
                      <a:r>
                        <a:rPr lang="zh-TW" sz="1800" u="none" strike="noStrike" noProof="0"/>
                        <a:t>s </a:t>
                      </a:r>
                      <a:r>
                        <a:rPr lang="en-US" altLang="zh-TW" sz="1800" u="none" strike="noStrike" noProof="0"/>
                        <a:t>a</a:t>
                      </a:r>
                      <a:r>
                        <a:rPr lang="zh-TW" sz="1800" u="none" strike="noStrike" noProof="0"/>
                        <a:t>llows sta</a:t>
                      </a:r>
                      <a:r>
                        <a:rPr lang="en-US" altLang="zh-TW" sz="1800" u="none" strike="noStrike" noProof="0"/>
                        <a:t>ff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to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quick</a:t>
                      </a:r>
                      <a:r>
                        <a:rPr lang="zh-TW" sz="1800" u="none" strike="noStrike" noProof="0"/>
                        <a:t>ly </a:t>
                      </a:r>
                      <a:r>
                        <a:rPr lang="en-US" altLang="zh-TW" sz="1800" u="none" strike="noStrike" noProof="0"/>
                        <a:t>find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a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specific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order</a:t>
                      </a:r>
                      <a:r>
                        <a:rPr lang="zh-TW" altLang="en-US" sz="1800" u="none" strike="noStrike" noProof="0"/>
                        <a:t> </a:t>
                      </a:r>
                      <a:endParaRPr lang="en-US" altLang="zh-TW" sz="1800" u="none" strike="noStrike" noProof="0"/>
                    </a:p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1800" u="none" strike="noStrike" noProof="0" err="1"/>
                        <a:t>Wh</a:t>
                      </a:r>
                      <a:r>
                        <a:rPr lang="zh-TW" sz="1800" u="none" strike="noStrike" noProof="0"/>
                        <a:t>e</a:t>
                      </a:r>
                      <a:r>
                        <a:rPr lang="en-US" altLang="zh-TW" sz="1800" u="none" strike="noStrike" noProof="0"/>
                        <a:t>n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a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pa</a:t>
                      </a:r>
                      <a:r>
                        <a:rPr lang="zh-TW" sz="1800" u="none" strike="noStrike" noProof="0"/>
                        <a:t>t</a:t>
                      </a:r>
                      <a:r>
                        <a:rPr lang="en-US" altLang="zh-TW" sz="1800" u="none" strike="noStrike" noProof="0" err="1"/>
                        <a:t>i</a:t>
                      </a:r>
                      <a:r>
                        <a:rPr lang="zh-TW" sz="1800" u="none" strike="noStrike" noProof="0"/>
                        <a:t>e</a:t>
                      </a:r>
                      <a:r>
                        <a:rPr lang="en-US" altLang="zh-TW" sz="1800" u="none" strike="noStrike" noProof="0" err="1"/>
                        <a:t>nt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 err="1"/>
                        <a:t>mak</a:t>
                      </a:r>
                      <a:r>
                        <a:rPr lang="zh-TW" sz="1800" u="none" strike="noStrike" noProof="0"/>
                        <a:t>e</a:t>
                      </a:r>
                      <a:r>
                        <a:rPr lang="en-US" altLang="zh-TW" sz="1800" u="none" strike="noStrike" noProof="0"/>
                        <a:t>s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an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zh-TW" sz="1800" u="none" strike="noStrike" noProof="0"/>
                        <a:t>i</a:t>
                      </a:r>
                      <a:r>
                        <a:rPr lang="en-US" altLang="zh-TW" sz="1800" u="none" strike="noStrike" noProof="0" err="1"/>
                        <a:t>nqu</a:t>
                      </a:r>
                      <a:r>
                        <a:rPr lang="zh-TW" sz="1800" u="none" strike="noStrike" noProof="0"/>
                        <a:t>i</a:t>
                      </a:r>
                      <a:r>
                        <a:rPr lang="en-US" altLang="zh-TW" sz="1800" u="none" strike="noStrike" noProof="0" err="1"/>
                        <a:t>ry</a:t>
                      </a:r>
                      <a:endParaRPr lang="en-US" altLang="zh-TW" sz="1800" u="none" strike="noStrike" noProof="0"/>
                    </a:p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1800" u="none" strike="noStrike" noProof="0"/>
                        <a:t>-&gt; </a:t>
                      </a:r>
                      <a:r>
                        <a:rPr lang="en-US" altLang="zh-TW" sz="1800" u="none" strike="noStrike" noProof="0" err="1"/>
                        <a:t>Im</a:t>
                      </a:r>
                      <a:r>
                        <a:rPr lang="zh-TW" sz="1800" u="none" strike="noStrike" noProof="0"/>
                        <a:t>p</a:t>
                      </a:r>
                      <a:r>
                        <a:rPr lang="en-US" altLang="zh-TW" sz="1800" u="none" strike="noStrike" noProof="0"/>
                        <a:t>r</a:t>
                      </a:r>
                      <a:r>
                        <a:rPr lang="zh-TW" sz="1800" u="none" strike="noStrike" noProof="0"/>
                        <a:t>o</a:t>
                      </a:r>
                      <a:r>
                        <a:rPr lang="en-US" altLang="zh-TW" sz="1800" u="none" strike="noStrike" noProof="0"/>
                        <a:t>v</a:t>
                      </a:r>
                      <a:r>
                        <a:rPr lang="zh-TW" sz="1800" u="none" strike="noStrike" noProof="0"/>
                        <a:t>i</a:t>
                      </a:r>
                      <a:r>
                        <a:rPr lang="en-US" altLang="zh-TW" sz="1800" u="none" strike="noStrike" noProof="0"/>
                        <a:t>ng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 err="1"/>
                        <a:t>Cus</a:t>
                      </a:r>
                      <a:r>
                        <a:rPr lang="zh-TW" sz="1800" u="none" strike="noStrike" noProof="0"/>
                        <a:t>to</a:t>
                      </a:r>
                      <a:r>
                        <a:rPr lang="en-US" altLang="zh-TW" sz="1800" u="none" strike="noStrike" noProof="0"/>
                        <a:t>me</a:t>
                      </a:r>
                      <a:r>
                        <a:rPr lang="zh-TW" sz="1800" u="none" strike="noStrike" noProof="0"/>
                        <a:t>r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Experience</a:t>
                      </a:r>
                      <a:endParaRPr lang="zh-TW" sz="1800"/>
                    </a:p>
                  </a:txBody>
                  <a:tcPr marL="89504" marR="89504" marT="44752" marB="44752"/>
                </a:tc>
                <a:extLst>
                  <a:ext uri="{0D108BD9-81ED-4DB2-BD59-A6C34878D82A}">
                    <a16:rowId xmlns:a16="http://schemas.microsoft.com/office/drawing/2014/main" val="822966188"/>
                  </a:ext>
                </a:extLst>
              </a:tr>
              <a:tr h="1099968">
                <a:tc>
                  <a:txBody>
                    <a:bodyPr/>
                    <a:lstStyle/>
                    <a:p>
                      <a:pPr marL="742950" marR="0" lvl="1" indent="-285750"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altLang="zh-TW" sz="1800" u="none" strike="noStrike" noProof="0"/>
                        <a:t>A</a:t>
                      </a:r>
                      <a:r>
                        <a:rPr lang="zh-TW" altLang="zh-TW" sz="1800" u="none" strike="noStrike" noProof="0"/>
                        <a:t>cce</a:t>
                      </a:r>
                      <a:r>
                        <a:rPr lang="en-US" altLang="zh-TW" sz="1800" u="none" strike="noStrike" noProof="0" err="1"/>
                        <a:t>ssibi</a:t>
                      </a:r>
                      <a:r>
                        <a:rPr lang="zh-TW" altLang="zh-TW" sz="1800" u="none" strike="noStrike" noProof="0"/>
                        <a:t>lity </a:t>
                      </a:r>
                      <a:r>
                        <a:rPr lang="en-US" altLang="zh-TW" sz="1800" u="none" strike="noStrike" noProof="0"/>
                        <a:t>f</a:t>
                      </a:r>
                      <a:r>
                        <a:rPr lang="zh-TW" altLang="zh-TW" sz="1800" u="none" strike="noStrike" noProof="0"/>
                        <a:t>e</a:t>
                      </a:r>
                      <a:r>
                        <a:rPr lang="en-US" altLang="zh-TW" sz="1800" u="none" strike="noStrike" noProof="0"/>
                        <a:t>a</a:t>
                      </a:r>
                      <a:r>
                        <a:rPr lang="zh-TW" altLang="zh-TW" sz="1800" u="none" strike="noStrike" noProof="0"/>
                        <a:t>t</a:t>
                      </a:r>
                      <a:r>
                        <a:rPr lang="en-US" altLang="zh-TW" sz="1800" u="none" strike="noStrike" noProof="0" err="1"/>
                        <a:t>ur</a:t>
                      </a:r>
                      <a:r>
                        <a:rPr lang="zh-TW" altLang="zh-TW" sz="1800" u="none" strike="noStrike" noProof="0"/>
                        <a:t>e</a:t>
                      </a:r>
                      <a:r>
                        <a:rPr lang="en-US" altLang="zh-TW" sz="1800" u="none" strike="noStrike" noProof="0"/>
                        <a:t>s</a:t>
                      </a:r>
                    </a:p>
                    <a:p>
                      <a:pPr marL="457200" marR="0" lvl="1" indent="0"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Font typeface="Arial"/>
                        <a:buNone/>
                      </a:pPr>
                      <a:r>
                        <a:rPr lang="en-US" altLang="zh-TW" sz="1800" u="none" strike="noStrike" noProof="0"/>
                        <a:t>	(</a:t>
                      </a: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High Contrast, Large buttons)</a:t>
                      </a:r>
                    </a:p>
                    <a:p>
                      <a:pPr lvl="0">
                        <a:lnSpc>
                          <a:spcPct val="150000"/>
                        </a:lnSpc>
                        <a:buNone/>
                      </a:pPr>
                      <a:endParaRPr lang="zh-TW" altLang="en-US" sz="1800"/>
                    </a:p>
                  </a:txBody>
                  <a:tcPr marL="89504" marR="89504" marT="44752" marB="44752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1800" u="none" strike="noStrike" noProof="0"/>
                        <a:t>Make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the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app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 err="1"/>
                        <a:t>eas</a:t>
                      </a:r>
                      <a:r>
                        <a:rPr lang="zh-TW" sz="1800" u="none" strike="noStrike" noProof="0"/>
                        <a:t>i</a:t>
                      </a:r>
                      <a:r>
                        <a:rPr lang="en-US" altLang="zh-TW" sz="1800" u="none" strike="noStrike" noProof="0"/>
                        <a:t>er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to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us</a:t>
                      </a:r>
                      <a:r>
                        <a:rPr lang="zh-TW" sz="1800" u="none" strike="noStrike" noProof="0"/>
                        <a:t>e </a:t>
                      </a:r>
                      <a:r>
                        <a:rPr lang="en-US" altLang="zh-TW" sz="1800" u="none" strike="noStrike" noProof="0"/>
                        <a:t>F</a:t>
                      </a:r>
                      <a:r>
                        <a:rPr lang="zh-TW" sz="1800" u="none" strike="noStrike" noProof="0"/>
                        <a:t>o</a:t>
                      </a:r>
                      <a:r>
                        <a:rPr lang="en-US" altLang="zh-TW" sz="1800" u="none" strike="noStrike" noProof="0"/>
                        <a:t>r</a:t>
                      </a:r>
                      <a:r>
                        <a:rPr lang="zh-TW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patients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with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visual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impairments,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but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are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n</a:t>
                      </a:r>
                      <a:r>
                        <a:rPr lang="zh-TW" sz="1800" u="none" strike="noStrike" noProof="0"/>
                        <a:t>o</a:t>
                      </a:r>
                      <a:r>
                        <a:rPr lang="en-US" altLang="zh-TW" sz="1800" u="none" strike="noStrike" noProof="0"/>
                        <a:t>t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esse</a:t>
                      </a:r>
                      <a:r>
                        <a:rPr lang="zh-TW" sz="1800" u="none" strike="noStrike" noProof="0"/>
                        <a:t>nt</a:t>
                      </a:r>
                      <a:r>
                        <a:rPr lang="en-US" altLang="zh-TW" sz="1800" u="none" strike="noStrike" noProof="0" err="1"/>
                        <a:t>i</a:t>
                      </a:r>
                      <a:r>
                        <a:rPr lang="zh-TW" sz="1800" u="none" strike="noStrike" noProof="0"/>
                        <a:t>a</a:t>
                      </a:r>
                      <a:r>
                        <a:rPr lang="en-US" altLang="zh-TW" sz="1800" u="none" strike="noStrike" noProof="0"/>
                        <a:t>l</a:t>
                      </a:r>
                      <a:r>
                        <a:rPr lang="zh-TW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for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the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core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zh-TW" sz="1800" u="none" strike="noStrike" noProof="0"/>
                        <a:t>order</a:t>
                      </a:r>
                      <a:r>
                        <a:rPr lang="en-US" altLang="zh-TW" sz="1800" u="none" strike="noStrike" noProof="0" err="1"/>
                        <a:t>ing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f</a:t>
                      </a:r>
                      <a:r>
                        <a:rPr lang="zh-TW" sz="1800" u="none" strike="noStrike" noProof="0"/>
                        <a:t>u</a:t>
                      </a:r>
                      <a:r>
                        <a:rPr lang="en-US" altLang="zh-TW" sz="1800" u="none" strike="noStrike" noProof="0" err="1"/>
                        <a:t>nction</a:t>
                      </a:r>
                      <a:r>
                        <a:rPr lang="zh-TW" sz="1800" u="none" strike="noStrike" noProof="0"/>
                        <a:t>.</a:t>
                      </a:r>
                      <a:endParaRPr lang="zh-TW" sz="1800"/>
                    </a:p>
                  </a:txBody>
                  <a:tcPr marL="89504" marR="89504" marT="44752" marB="44752"/>
                </a:tc>
                <a:extLst>
                  <a:ext uri="{0D108BD9-81ED-4DB2-BD59-A6C34878D82A}">
                    <a16:rowId xmlns:a16="http://schemas.microsoft.com/office/drawing/2014/main" val="35699015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36275-B83E-21FF-F9B5-FAD2C6BE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93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F30E6-D132-7A32-967E-AF185A6CE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C08249-CF17-CD56-A218-A2564FFB3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10" y="896112"/>
            <a:ext cx="11155680" cy="1463040"/>
          </a:xfrm>
        </p:spPr>
        <p:txBody>
          <a:bodyPr>
            <a:normAutofit/>
          </a:bodyPr>
          <a:lstStyle/>
          <a:p>
            <a:r>
              <a:rPr lang="en-US" sz="4000" err="1"/>
              <a:t>MoSCoW</a:t>
            </a:r>
            <a:r>
              <a:rPr lang="en-US" sz="4000"/>
              <a:t> </a:t>
            </a:r>
            <a:r>
              <a:rPr lang="en-US" sz="4000" err="1"/>
              <a:t>Prioritisation</a:t>
            </a:r>
            <a:r>
              <a:rPr lang="en-US" sz="4000"/>
              <a:t>: Could Have</a:t>
            </a:r>
            <a:endParaRPr lang="zh-TW" sz="4000"/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C66DDD70-F0B8-3F4A-2DAC-219737C6C4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2508996"/>
              </p:ext>
            </p:extLst>
          </p:nvPr>
        </p:nvGraphicFramePr>
        <p:xfrm>
          <a:off x="515110" y="2181709"/>
          <a:ext cx="11155681" cy="2494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804">
                  <a:extLst>
                    <a:ext uri="{9D8B030D-6E8A-4147-A177-3AD203B41FA5}">
                      <a16:colId xmlns:a16="http://schemas.microsoft.com/office/drawing/2014/main" val="3291110797"/>
                    </a:ext>
                  </a:extLst>
                </a:gridCol>
                <a:gridCol w="5531877">
                  <a:extLst>
                    <a:ext uri="{9D8B030D-6E8A-4147-A177-3AD203B41FA5}">
                      <a16:colId xmlns:a16="http://schemas.microsoft.com/office/drawing/2014/main" val="789836268"/>
                    </a:ext>
                  </a:extLst>
                </a:gridCol>
              </a:tblGrid>
              <a:tr h="63438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chemeClr val="bg1"/>
                          </a:solidFill>
                        </a:rPr>
                        <a:t>Could Have:</a:t>
                      </a:r>
                      <a:endParaRPr lang="zh-TW" sz="1800">
                        <a:solidFill>
                          <a:schemeClr val="bg1"/>
                        </a:solidFill>
                      </a:endParaRPr>
                    </a:p>
                  </a:txBody>
                  <a:tcPr marL="89504" marR="89504" marT="44752" marB="44752"/>
                </a:tc>
                <a:tc>
                  <a:txBody>
                    <a:bodyPr/>
                    <a:lstStyle/>
                    <a:p>
                      <a:r>
                        <a:rPr lang="en-US" altLang="zh-TW" sz="1800"/>
                        <a:t>Why?</a:t>
                      </a:r>
                      <a:endParaRPr lang="zh-TW" altLang="en-US" sz="1800"/>
                    </a:p>
                  </a:txBody>
                  <a:tcPr marL="89504" marR="89504" marT="44752" marB="44752"/>
                </a:tc>
                <a:extLst>
                  <a:ext uri="{0D108BD9-81ED-4DB2-BD59-A6C34878D82A}">
                    <a16:rowId xmlns:a16="http://schemas.microsoft.com/office/drawing/2014/main" val="1528177783"/>
                  </a:ext>
                </a:extLst>
              </a:tr>
              <a:tr h="930096">
                <a:tc>
                  <a:txBody>
                    <a:bodyPr/>
                    <a:lstStyle/>
                    <a:p>
                      <a:pPr marL="742950" lvl="1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800"/>
                        <a:t>Text-to-speech function</a:t>
                      </a:r>
                      <a:endParaRPr lang="zh-TW" altLang="en-US" sz="1800"/>
                    </a:p>
                  </a:txBody>
                  <a:tcPr marL="89504" marR="89504" marT="44752" marB="44752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1800"/>
                        <a:t>Designed for visually impaired users, it reads the text aloud when the user taps on it.</a:t>
                      </a:r>
                      <a:endParaRPr lang="zh-TW" sz="1800"/>
                    </a:p>
                  </a:txBody>
                  <a:tcPr marL="89504" marR="89504" marT="44752" marB="44752"/>
                </a:tc>
                <a:extLst>
                  <a:ext uri="{0D108BD9-81ED-4DB2-BD59-A6C34878D82A}">
                    <a16:rowId xmlns:a16="http://schemas.microsoft.com/office/drawing/2014/main" val="2903395913"/>
                  </a:ext>
                </a:extLst>
              </a:tr>
              <a:tr h="930096">
                <a:tc>
                  <a:txBody>
                    <a:bodyPr/>
                    <a:lstStyle/>
                    <a:p>
                      <a:pPr marL="742950" lvl="1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800"/>
                        <a:t>Compatibility</a:t>
                      </a:r>
                      <a:endParaRPr lang="zh-TW" altLang="en-US" sz="1800"/>
                    </a:p>
                  </a:txBody>
                  <a:tcPr marL="89504" marR="89504" marT="44752" marB="44752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1800"/>
                        <a:t>Portable</a:t>
                      </a:r>
                      <a:r>
                        <a:rPr lang="zh-TW" altLang="en-US" sz="1800"/>
                        <a:t> </a:t>
                      </a:r>
                      <a:r>
                        <a:rPr lang="en-US" altLang="zh-TW" sz="1800"/>
                        <a:t>for mobile devices and desktop computers</a:t>
                      </a:r>
                      <a:endParaRPr lang="zh-TW" sz="1800"/>
                    </a:p>
                  </a:txBody>
                  <a:tcPr marL="89504" marR="89504" marT="44752" marB="44752"/>
                </a:tc>
                <a:extLst>
                  <a:ext uri="{0D108BD9-81ED-4DB2-BD59-A6C34878D82A}">
                    <a16:rowId xmlns:a16="http://schemas.microsoft.com/office/drawing/2014/main" val="183838763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E748F-533B-EE95-662A-7F2884AF4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41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88C903-D948-85DC-661B-627A5C298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38" y="885952"/>
            <a:ext cx="11205523" cy="1035345"/>
          </a:xfrm>
        </p:spPr>
        <p:txBody>
          <a:bodyPr>
            <a:normAutofit/>
          </a:bodyPr>
          <a:lstStyle/>
          <a:p>
            <a:r>
              <a:rPr lang="en-US" sz="4000" err="1"/>
              <a:t>MoSCoW</a:t>
            </a:r>
            <a:r>
              <a:rPr lang="en-US" sz="4000"/>
              <a:t> </a:t>
            </a:r>
            <a:r>
              <a:rPr lang="en-US" sz="4000" err="1"/>
              <a:t>Prioritisation</a:t>
            </a:r>
            <a:r>
              <a:rPr lang="en-US" sz="4000"/>
              <a:t>: Won’t Have</a:t>
            </a:r>
            <a:endParaRPr lang="zh-TW" sz="4000"/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21A97B56-B54C-B166-BF31-24E85796BC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8141232"/>
              </p:ext>
            </p:extLst>
          </p:nvPr>
        </p:nvGraphicFramePr>
        <p:xfrm>
          <a:off x="493238" y="1998390"/>
          <a:ext cx="11413863" cy="3674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3958">
                  <a:extLst>
                    <a:ext uri="{9D8B030D-6E8A-4147-A177-3AD203B41FA5}">
                      <a16:colId xmlns:a16="http://schemas.microsoft.com/office/drawing/2014/main" val="3291110797"/>
                    </a:ext>
                  </a:extLst>
                </a:gridCol>
                <a:gridCol w="5659905">
                  <a:extLst>
                    <a:ext uri="{9D8B030D-6E8A-4147-A177-3AD203B41FA5}">
                      <a16:colId xmlns:a16="http://schemas.microsoft.com/office/drawing/2014/main" val="789836268"/>
                    </a:ext>
                  </a:extLst>
                </a:gridCol>
              </a:tblGrid>
              <a:tr h="725707"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sz="1800" u="none" strike="noStrike" noProof="0">
                          <a:solidFill>
                            <a:schemeClr val="bg1"/>
                          </a:solidFill>
                        </a:rPr>
                        <a:t>Won’t Have:</a:t>
                      </a:r>
                      <a:endParaRPr lang="zh-TW" sz="1800">
                        <a:solidFill>
                          <a:schemeClr val="bg1"/>
                        </a:solidFill>
                      </a:endParaRPr>
                    </a:p>
                  </a:txBody>
                  <a:tcPr marL="89504" marR="89504" marT="44752" marB="44752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1800"/>
                        <a:t>Why?</a:t>
                      </a:r>
                      <a:endParaRPr lang="zh-TW" altLang="en-US" sz="1800"/>
                    </a:p>
                  </a:txBody>
                  <a:tcPr marL="89504" marR="89504" marT="44752" marB="44752"/>
                </a:tc>
                <a:extLst>
                  <a:ext uri="{0D108BD9-81ED-4DB2-BD59-A6C34878D82A}">
                    <a16:rowId xmlns:a16="http://schemas.microsoft.com/office/drawing/2014/main" val="1528177783"/>
                  </a:ext>
                </a:extLst>
              </a:tr>
              <a:tr h="1394767">
                <a:tc>
                  <a:txBody>
                    <a:bodyPr/>
                    <a:lstStyle/>
                    <a:p>
                      <a:pPr marL="742950" lvl="1" indent="-285750"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Dietary restriction</a:t>
                      </a:r>
                    </a:p>
                  </a:txBody>
                  <a:tcPr marL="89503" marR="89503" marT="44752" marB="44752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1800" u="none" strike="noStrike" noProof="0"/>
                        <a:t>Safety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feature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to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prevent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serious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health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incidents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in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a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hospital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setting</a:t>
                      </a:r>
                    </a:p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1800"/>
                        <a:t>Have dietary and allergen info for each meal already</a:t>
                      </a:r>
                      <a:endParaRPr lang="zh-TW" sz="1800"/>
                    </a:p>
                  </a:txBody>
                  <a:tcPr marL="89503" marR="89503" marT="44752" marB="44752"/>
                </a:tc>
                <a:extLst>
                  <a:ext uri="{0D108BD9-81ED-4DB2-BD59-A6C34878D82A}">
                    <a16:rowId xmlns:a16="http://schemas.microsoft.com/office/drawing/2014/main" val="3270590639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marL="742950" marR="0" lvl="1" indent="-285750" algn="l">
                        <a:lnSpc>
                          <a:spcPct val="15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Support 24/7 service hours</a:t>
                      </a:r>
                    </a:p>
                    <a:p>
                      <a:pPr lvl="0">
                        <a:lnSpc>
                          <a:spcPct val="150000"/>
                        </a:lnSpc>
                        <a:buNone/>
                      </a:pPr>
                      <a:endParaRPr lang="zh-TW" altLang="en-US" sz="1800"/>
                    </a:p>
                  </a:txBody>
                  <a:tcPr marL="89504" marR="89504" marT="44752" marB="44752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1800" u="none" strike="noStrike" noProof="0"/>
                        <a:t>Align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system</a:t>
                      </a:r>
                      <a:r>
                        <a:rPr lang="zh-TW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a</a:t>
                      </a:r>
                      <a:r>
                        <a:rPr lang="zh-TW" sz="1800" u="none" strike="noStrike" noProof="0"/>
                        <a:t>vaila</a:t>
                      </a:r>
                      <a:r>
                        <a:rPr lang="en-US" altLang="zh-TW" sz="1800" u="none" strike="noStrike" noProof="0"/>
                        <a:t>bi</a:t>
                      </a:r>
                      <a:r>
                        <a:rPr lang="zh-TW" sz="1800" u="none" strike="noStrike" noProof="0"/>
                        <a:t>lity with the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can</a:t>
                      </a:r>
                      <a:r>
                        <a:rPr lang="zh-TW" sz="1800" u="none" strike="noStrike" noProof="0"/>
                        <a:t>tee</a:t>
                      </a:r>
                      <a:r>
                        <a:rPr lang="en-US" altLang="zh-TW" sz="1800" u="none" strike="noStrike" noProof="0"/>
                        <a:t>n's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actual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operating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hours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t</a:t>
                      </a:r>
                      <a:r>
                        <a:rPr lang="zh-TW" sz="1800" u="none" strike="noStrike" noProof="0"/>
                        <a:t>o </a:t>
                      </a:r>
                      <a:r>
                        <a:rPr lang="en-US" altLang="zh-TW" sz="1800" u="none" strike="noStrike" noProof="0"/>
                        <a:t>manage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project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scope</a:t>
                      </a:r>
                      <a:r>
                        <a:rPr lang="zh-TW" altLang="en-US" sz="1800" u="none" strike="noStrike" noProof="0"/>
                        <a:t> </a:t>
                      </a:r>
                      <a:endParaRPr lang="en-US" altLang="zh-TW" sz="1800" u="none" strike="noStrike" noProof="0"/>
                    </a:p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1800" u="none" strike="noStrike" noProof="0"/>
                        <a:t>Avo</a:t>
                      </a:r>
                      <a:r>
                        <a:rPr lang="zh-TW" sz="1800" u="none" strike="noStrike" noProof="0"/>
                        <a:t>i</a:t>
                      </a:r>
                      <a:r>
                        <a:rPr lang="en-US" altLang="zh-TW" sz="1800" u="none" strike="noStrike" noProof="0"/>
                        <a:t>d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zh-TW" sz="1800" u="none" strike="noStrike" noProof="0"/>
                        <a:t>t</a:t>
                      </a:r>
                      <a:r>
                        <a:rPr lang="en-US" altLang="zh-TW" sz="1800" u="none" strike="noStrike" noProof="0"/>
                        <a:t>he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complexity</a:t>
                      </a:r>
                      <a:r>
                        <a:rPr lang="zh-TW" sz="1800" u="none" strike="noStrike" noProof="0"/>
                        <a:t> of supporting </a:t>
                      </a:r>
                      <a:r>
                        <a:rPr lang="en-US" altLang="zh-TW" sz="1800" u="none" strike="noStrike" noProof="0"/>
                        <a:t>off-hour</a:t>
                      </a:r>
                      <a:r>
                        <a:rPr lang="zh-TW" altLang="en-US" sz="1800" u="none" strike="noStrike" noProof="0"/>
                        <a:t> </a:t>
                      </a:r>
                      <a:r>
                        <a:rPr lang="en-US" altLang="zh-TW" sz="1800" u="none" strike="noStrike" noProof="0"/>
                        <a:t>operations</a:t>
                      </a:r>
                      <a:endParaRPr lang="zh-TW" sz="1800"/>
                    </a:p>
                  </a:txBody>
                  <a:tcPr marL="89504" marR="89504" marT="44752" marB="44752"/>
                </a:tc>
                <a:extLst>
                  <a:ext uri="{0D108BD9-81ED-4DB2-BD59-A6C34878D82A}">
                    <a16:rowId xmlns:a16="http://schemas.microsoft.com/office/drawing/2014/main" val="35699015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25901-BA83-8D9F-986E-444DF90EB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28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743510-A872-D3B2-406C-417536B93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4418" y="1932710"/>
            <a:ext cx="8663708" cy="1496290"/>
          </a:xfrm>
        </p:spPr>
        <p:txBody>
          <a:bodyPr>
            <a:noAutofit/>
          </a:bodyPr>
          <a:lstStyle/>
          <a:p>
            <a:pPr algn="ctr"/>
            <a:r>
              <a:rPr kumimoji="1" lang="en-US" altLang="zh-HK" sz="9600"/>
              <a:t>Demonstration</a:t>
            </a:r>
            <a:br>
              <a:rPr kumimoji="1" lang="en-US" altLang="zh-HK" sz="9600"/>
            </a:br>
            <a:r>
              <a:rPr kumimoji="1" lang="en-US" altLang="zh-HK" sz="9600"/>
              <a:t>Time </a:t>
            </a:r>
            <a:endParaRPr kumimoji="1" lang="zh-HK" altLang="en-US" sz="96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79AAC4-983C-6F2F-6C8C-A1288C31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E0EAE-842F-0669-2FF9-EE0E087A6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616" y="2560320"/>
            <a:ext cx="11347704" cy="3767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HK" sz="8000" b="1"/>
              <a:t>Thank You</a:t>
            </a:r>
            <a:endParaRPr lang="zh-HK" altLang="en-US" sz="8000" b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8A9AD-85FE-1126-A5E0-1BDC09001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34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7FE54C5-11FA-AAA2-B7CF-6B710394C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910" y="714915"/>
            <a:ext cx="3788410" cy="2714085"/>
          </a:xfrm>
          <a:prstGeom prst="rect">
            <a:avLst/>
          </a:prstGeom>
        </p:spPr>
      </p:pic>
      <p:pic>
        <p:nvPicPr>
          <p:cNvPr id="2050" name="Picture 2" descr="Hi Hello GIF - Hi Hello Andrew - Discover &amp; Share GIFs">
            <a:extLst>
              <a:ext uri="{FF2B5EF4-FFF2-40B4-BE49-F238E27FC236}">
                <a16:creationId xmlns:a16="http://schemas.microsoft.com/office/drawing/2014/main" id="{EAE4FBF7-5142-EE17-2BC5-6AA899672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" y="4425696"/>
            <a:ext cx="3814737" cy="2267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9571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862b880-d69f-41e6-862b-0581558d94a5}" enabled="0" method="" siteId="{6862b880-d69f-41e6-862b-0581558d94a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2398</Words>
  <Application>Microsoft Office PowerPoint</Application>
  <PresentationFormat>Widescreen</PresentationFormat>
  <Paragraphs>345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Courier New,monospace</vt:lpstr>
      <vt:lpstr>Aptos</vt:lpstr>
      <vt:lpstr>Arial</vt:lpstr>
      <vt:lpstr>Bierstadt</vt:lpstr>
      <vt:lpstr>Calibri</vt:lpstr>
      <vt:lpstr>Courier New</vt:lpstr>
      <vt:lpstr>GestaltVTI</vt:lpstr>
      <vt:lpstr> Hospital Canteen Ordering and Delivery System</vt:lpstr>
      <vt:lpstr>Hospital Canteen Ordering and Delivery System</vt:lpstr>
      <vt:lpstr>PACT - People </vt:lpstr>
      <vt:lpstr>PACT - Activities </vt:lpstr>
      <vt:lpstr>PACT - Activities </vt:lpstr>
      <vt:lpstr>PACT - Activities </vt:lpstr>
      <vt:lpstr>PACT - Contexts </vt:lpstr>
      <vt:lpstr>PACT - Contexts </vt:lpstr>
      <vt:lpstr>PACT - Contexts </vt:lpstr>
      <vt:lpstr>PACT - Technologies </vt:lpstr>
      <vt:lpstr>PACT SUMMARIZE</vt:lpstr>
      <vt:lpstr>Data Gathering - System </vt:lpstr>
      <vt:lpstr>User Stories </vt:lpstr>
      <vt:lpstr>Scenarios &amp; Use Cases </vt:lpstr>
      <vt:lpstr>Scenarios &amp; Use Cases </vt:lpstr>
      <vt:lpstr>User Stories, Scenarios &amp; Use Cases </vt:lpstr>
      <vt:lpstr>Requirements - Functional  </vt:lpstr>
      <vt:lpstr>Requirements - Functional</vt:lpstr>
      <vt:lpstr>Requirements - Functional  Authentication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Requirements Non-Functional Requirements:</vt:lpstr>
      <vt:lpstr>Requirements Non-Functional Requirements:</vt:lpstr>
      <vt:lpstr>MoSCoW Prioritisation: Must Have</vt:lpstr>
      <vt:lpstr>MoSCoW Prioritisation: Must Have</vt:lpstr>
      <vt:lpstr>MoSCoW Prioritisation: Should Have</vt:lpstr>
      <vt:lpstr>MoSCoW Prioritisation: Could Have</vt:lpstr>
      <vt:lpstr>MoSCoW Prioritisation: Could Have</vt:lpstr>
      <vt:lpstr>MoSCoW Prioritisation: Won’t Have</vt:lpstr>
      <vt:lpstr>Demonstration Time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 Sheung Fung Billy</dc:creator>
  <cp:lastModifiedBy>TANG Tsz Chung</cp:lastModifiedBy>
  <cp:revision>3</cp:revision>
  <dcterms:created xsi:type="dcterms:W3CDTF">2026-04-04T13:13:24Z</dcterms:created>
  <dcterms:modified xsi:type="dcterms:W3CDTF">2026-10-05T16:33:00Z</dcterms:modified>
</cp:coreProperties>
</file>